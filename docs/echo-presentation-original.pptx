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This deck compares TikTok and Threads growth
• We focus on real vs hype growth</a:t>
            </a:r>
          </a:p>
          <a:p>
            <a:pPr indent="0" algn="l">
              <a:lnSpc>
                <a:spcPct val="100000"/>
              </a:lnSpc>
            </a:pPr>
            <a:r>
              <a:rPr lang="en-US" sz="1400" b="0" i="0" u="none" strike="noStrike">
                <a:solidFill>
                  <a:srgbClr val="000000"/>
                </a:solidFill>
              </a:rPr>
              <a:t>• You will see simple, clear takeaways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Here is our story flow today</a:t>
            </a:r>
          </a:p>
          <a:p>
            <a:pPr indent="0" algn="l">
              <a:lnSpc>
                <a:spcPct val="100000"/>
              </a:lnSpc>
            </a:pPr>
            <a:r>
              <a:rPr lang="en-US" sz="1400" b="0" i="0" u="none" strike="noStrike">
                <a:solidFill>
                  <a:srgbClr val="000000"/>
                </a:solidFill>
              </a:rPr>
              <a:t>• We start with data cleaning and quality</a:t>
            </a:r>
          </a:p>
          <a:p>
            <a:pPr indent="0" algn="l">
              <a:lnSpc>
                <a:spcPct val="100000"/>
              </a:lnSpc>
            </a:pPr>
            <a:r>
              <a:rPr lang="en-US" sz="1400" b="0" i="0" u="none" strike="noStrike">
                <a:solidFill>
                  <a:srgbClr val="000000"/>
                </a:solidFill>
              </a:rPr>
              <a:t>• Then findings, comparison, and actions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TikTok shows stable, organic growth
• Threads peaks fast, then drops — a bubble</a:t>
            </a:r>
          </a:p>
          <a:p>
            <a:pPr indent="0" algn="l">
              <a:lnSpc>
                <a:spcPct val="100000"/>
              </a:lnSpc>
            </a:pPr>
            <a:r>
              <a:rPr lang="en-US" sz="1400" b="0" i="0" u="none" strike="noStrike">
                <a:solidFill>
                  <a:srgbClr val="000000"/>
                </a:solidFill>
              </a:rPr>
              <a:t>• Organic share and engagement are key signals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We fixed missing and duplicate records
• We corrected impossible values like negative churn</a:t>
            </a:r>
          </a:p>
          <a:p>
            <a:pPr indent="0" algn="l">
              <a:lnSpc>
                <a:spcPct val="100000"/>
              </a:lnSpc>
            </a:pPr>
            <a:r>
              <a:rPr lang="en-US" sz="1400" b="0" i="0" u="none" strike="noStrike">
                <a:solidFill>
                  <a:srgbClr val="000000"/>
                </a:solidFill>
              </a:rPr>
              <a:t>• Clean data makes results trustworthy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Values are valid and realistic
• Dates and numbers use one format</a:t>
            </a:r>
          </a:p>
          <a:p>
            <a:pPr indent="0" algn="l">
              <a:lnSpc>
                <a:spcPct val="100000"/>
              </a:lnSpc>
            </a:pPr>
            <a:r>
              <a:rPr lang="en-US" sz="1400" b="0" i="0" u="none" strike="noStrike">
                <a:solidFill>
                  <a:srgbClr val="000000"/>
                </a:solidFill>
              </a:rPr>
              <a:t>• Datasets are complete and consistent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Two platforms: Threads and TikTok
• Key fields: DAU, session time, churn, organic</a:t>
            </a:r>
          </a:p>
          <a:p>
            <a:pPr indent="0" algn="l">
              <a:lnSpc>
                <a:spcPct val="100000"/>
              </a:lnSpc>
            </a:pPr>
            <a:r>
              <a:rPr lang="en-US" sz="1400" b="0" i="0" u="none" strike="noStrike">
                <a:solidFill>
                  <a:srgbClr val="000000"/>
                </a:solidFill>
              </a:rPr>
              <a:t>• External scores guide context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Big user counts can hide weak engagement
• We need numbers to spot hype vs real growth</a:t>
            </a:r>
          </a:p>
          <a:p>
            <a:pPr indent="0" algn="l">
              <a:lnSpc>
                <a:spcPct val="100000"/>
              </a:lnSpc>
            </a:pPr>
            <a:r>
              <a:rPr lang="en-US" sz="1400" b="0" i="0" u="none" strike="noStrike">
                <a:solidFill>
                  <a:srgbClr val="000000"/>
                </a:solidFill>
              </a:rPr>
              <a:t>• Our method checks correlation and organic share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 we dive deeper into the heatmaps. On the left, Threads shows strong negative correlations with churn, indicating instability. On the right, TikTok displays strong positive correlations with engagement and tech factors, confirming a sustainable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 we visualize the comparison between TikTok and Threads growth using the area chart. We can clearly see the gap between the two platforms, with trends visible side-by-side without needing extra visuals.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Compare engagement, organic %, and churn links
• TikTok scores show stability</a:t>
            </a:r>
          </a:p>
          <a:p>
            <a:pPr indent="0" algn="l">
              <a:lnSpc>
                <a:spcPct val="100000"/>
              </a:lnSpc>
            </a:pPr>
            <a:r>
              <a:rPr lang="en-US" sz="1400" b="0" i="0" u="none" strike="noStrike">
                <a:solidFill>
                  <a:srgbClr val="000000"/>
                </a:solidFill>
              </a:rPr>
              <a:t>• Threads scores show risk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0.73: users active early, not sustained
• -0.70 churn link: users left quickly</a:t>
            </a:r>
          </a:p>
          <a:p>
            <a:pPr indent="0" algn="l">
              <a:lnSpc>
                <a:spcPct val="100000"/>
              </a:lnSpc>
            </a:pPr>
            <a:r>
              <a:rPr lang="en-US" sz="1400" b="0" i="0" u="none" strike="noStrike">
                <a:solidFill>
                  <a:srgbClr val="000000"/>
                </a:solidFill>
              </a:rPr>
              <a:t>• Twitter volatility mattered little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Churn rose from 15% to 45% in 8 weeks
• Leaving users drain DAU fast</a:t>
            </a:r>
          </a:p>
          <a:p>
            <a:pPr indent="0" algn="l">
              <a:lnSpc>
                <a:spcPct val="100000"/>
              </a:lnSpc>
            </a:pPr>
            <a:r>
              <a:rPr lang="en-US" sz="1400" b="0" i="0" u="none" strike="noStrike">
                <a:solidFill>
                  <a:srgbClr val="000000"/>
                </a:solidFill>
              </a:rPr>
              <a:t>• Retention beats new acquisition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0.92: engagement rises with user growth
• Tech and algorithm strongly drive sessions</a:t>
            </a:r>
          </a:p>
          <a:p>
            <a:pPr indent="0" algn="l">
              <a:lnSpc>
                <a:spcPct val="100000"/>
              </a:lnSpc>
            </a:pPr>
            <a:r>
              <a:rPr lang="en-US" sz="1400" b="0" i="0" u="none" strike="noStrike">
                <a:solidFill>
                  <a:srgbClr val="000000"/>
                </a:solidFill>
              </a:rPr>
              <a:t>• Organic discovery powers stable growth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TikTok: small gap between total and organic users
• Threads: large gap; spike then drop</a:t>
            </a:r>
          </a:p>
          <a:p>
            <a:pPr indent="0" algn="l">
              <a:lnSpc>
                <a:spcPct val="100000"/>
              </a:lnSpc>
            </a:pPr>
            <a:r>
              <a:rPr lang="en-US" sz="1400" b="0" i="0" u="none" strike="noStrike">
                <a:solidFill>
                  <a:srgbClr val="000000"/>
                </a:solidFill>
              </a:rPr>
              <a:t>• Watch organic share and engagement together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Sustainable: high engagement and organic growth
• Bubble: marketing spike without retention</a:t>
            </a:r>
          </a:p>
          <a:p>
            <a:pPr indent="0" algn="l">
              <a:lnSpc>
                <a:spcPct val="100000"/>
              </a:lnSpc>
            </a:pPr>
            <a:r>
              <a:rPr lang="en-US" sz="1400" b="0" i="0" u="none" strike="noStrike">
                <a:solidFill>
                  <a:srgbClr val="000000"/>
                </a:solidFill>
              </a:rPr>
              <a:t>• Use these signals to judge health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Three checks: gap, sync, churn speed
• One alert: caution; two: warning; three: critical</a:t>
            </a:r>
          </a:p>
          <a:p>
            <a:pPr indent="0" algn="l">
              <a:lnSpc>
                <a:spcPct val="100000"/>
              </a:lnSpc>
            </a:pPr>
            <a:r>
              <a:rPr lang="en-US" sz="1400" b="0" i="0" u="none" strike="noStrike">
                <a:solidFill>
                  <a:srgbClr val="000000"/>
                </a:solidFill>
              </a:rPr>
              <a:t>• Act early to avoid bubble collapse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Data is simulated from known patterns
• We focus on numbers, not regulation</a:t>
            </a:r>
          </a:p>
          <a:p>
            <a:pPr indent="0" algn="l">
              <a:lnSpc>
                <a:spcPct val="100000"/>
              </a:lnSpc>
            </a:pPr>
            <a:r>
              <a:rPr lang="en-US" sz="1400" b="0" i="0" u="none" strike="noStrike">
                <a:solidFill>
                  <a:srgbClr val="000000"/>
                </a:solidFill>
              </a:rPr>
              <a:t>• Validate across more cases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Test the model on more platforms
• Add user sentiment and reviews</a:t>
            </a:r>
          </a:p>
          <a:p>
            <a:pPr indent="0" algn="l">
              <a:lnSpc>
                <a:spcPct val="100000"/>
              </a:lnSpc>
            </a:pPr>
            <a:r>
              <a:rPr lang="en-US" sz="1400" b="0" i="0" u="none" strike="noStrike">
                <a:solidFill>
                  <a:srgbClr val="000000"/>
                </a:solidFill>
              </a:rPr>
              <a:t>• Build early-warning ML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 TikTok fits the healthy growth pattern
• Threads was a hype spike</a:t>
            </a:r>
          </a:p>
          <a:p>
            <a:pPr indent="0" algn="l">
              <a:lnSpc>
                <a:spcPct val="100000"/>
              </a:lnSpc>
            </a:pPr>
            <a:r>
              <a:rPr lang="en-US" sz="1400" b="0" i="0" u="none" strike="noStrike">
                <a:solidFill>
                  <a:srgbClr val="000000"/>
                </a:solidFill>
              </a:rPr>
              <a:t>• Use the dashboard to monitor signals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54467" y="1905000"/>
            <a:ext cx="10668000" cy="4064000"/>
          </a:xfrm>
          <a:prstGeom prst="rect">
            <a:avLst/>
          </a:prstGeom>
          <a:noFill/>
          <a:ln w="12700" cap="flat" cmpd="sng">
            <a:noFill/>
            <a:prstDash val="solid"/>
            <a:round/>
          </a:ln>
        </p:spPr>
        <p:txBody>
          <a:bodyPr vert="horz" wrap="square" lIns="0" tIns="0" rIns="0" bIns="0" rtlCol="0" anchor="ctr" anchorCtr="0">
            <a:normAutofit/>
          </a:bodyPr>
          <a:lstStyle/>
          <a:p>
            <a:pPr indent="0" algn="ctr">
              <a:lnSpc>
                <a:spcPct val="108333"/>
              </a:lnSpc>
              <a:defRPr/>
            </a:pPr>
            <a:r>
              <a:rPr lang="en-US" sz="4200" b="1" i="0" u="none" strike="noStrike">
                <a:solidFill>
                  <a:srgbClr val="142850"/>
                </a:solidFill>
                <a:latin typeface="Montserrat"/>
                <a:ea typeface="Montserrat"/>
                <a:cs typeface="Montserrat"/>
                <a:sym typeface="Montserrat"/>
              </a:rPr>
              <a:t>Social Media Growth Analysis: Sustainable vs Bubble</a:t>
            </a:r>
            <a:endParaRPr lang="en-US" sz="1100"/>
          </a:p>
          <a:p>
            <a:pPr indent="0" algn="ctr">
              <a:lnSpc>
                <a:spcPct val="108333"/>
              </a:lnSpc>
            </a:pPr>
            <a:r>
              <a:rPr lang="en-US" sz="2400" b="0" i="0" u="none" strike="noStrike">
                <a:solidFill>
                  <a:srgbClr val="3C3C3C"/>
                </a:solidFill>
                <a:latin typeface="Open Sans"/>
                <a:ea typeface="Open Sans"/>
                <a:cs typeface="Open Sans"/>
                <a:sym typeface="Open Sans"/>
              </a:rPr>
              <a:t>Data Analyst Project | Comparative Study</a:t>
            </a:r>
          </a:p>
          <a:p>
            <a:pPr indent="0" algn="ctr">
              <a:lnSpc>
                <a:spcPct val="108333"/>
              </a:lnSpc>
            </a:pPr>
            <a:r>
              <a:rPr lang="en-US" sz="2200" b="1" i="0" u="none" strike="noStrike">
                <a:solidFill>
                  <a:srgbClr val="142850"/>
                </a:solidFill>
                <a:latin typeface="Montserrat"/>
                <a:ea typeface="Montserrat"/>
                <a:cs typeface="Montserrat"/>
                <a:sym typeface="Montserrat"/>
              </a:rPr>
              <a:t>echo team</a:t>
            </a:r>
          </a:p>
          <a:p>
            <a:pPr indent="0" algn="ctr">
              <a:lnSpc>
                <a:spcPct val="108333"/>
              </a:lnSpc>
            </a:pPr>
            <a:r>
              <a:rPr lang="en-US" sz="1600" b="0" i="0" u="none" strike="noStrike">
                <a:solidFill>
                  <a:srgbClr val="3C3C3C"/>
                </a:solidFill>
                <a:latin typeface="Open Sans"/>
                <a:ea typeface="Open Sans"/>
                <a:cs typeface="Open Sans"/>
                <a:sym typeface="Open Sans"/>
              </a:rPr>
              <a:t>Gheid Abdulkarim Abomaghara — analysis, metrics, problem solving</a:t>
            </a:r>
          </a:p>
          <a:p>
            <a:pPr indent="0" algn="ctr">
              <a:lnSpc>
                <a:spcPct val="108333"/>
              </a:lnSpc>
            </a:pPr>
            <a:r>
              <a:rPr lang="en-US" sz="1600" b="0" i="0" u="none" strike="noStrike">
                <a:solidFill>
                  <a:srgbClr val="3C3C3C"/>
                </a:solidFill>
                <a:latin typeface="Open Sans"/>
                <a:ea typeface="Open Sans"/>
                <a:cs typeface="Open Sans"/>
                <a:sym typeface="Open Sans"/>
              </a:rPr>
              <a:t>Rasha Abdulhameed Naji — data collection, cleaning</a:t>
            </a:r>
          </a:p>
          <a:p>
            <a:pPr indent="0" algn="ctr">
              <a:lnSpc>
                <a:spcPct val="108333"/>
              </a:lnSpc>
            </a:pPr>
            <a:r>
              <a:rPr lang="en-US" sz="1600" b="0" i="0" u="none" strike="noStrike">
                <a:solidFill>
                  <a:srgbClr val="3C3C3C"/>
                </a:solidFill>
                <a:latin typeface="Open Sans"/>
                <a:ea typeface="Open Sans"/>
                <a:cs typeface="Open Sans"/>
                <a:sym typeface="Open Sans"/>
              </a:rPr>
              <a:t>Elaf Hamed Alhajj — presentation, visualization</a:t>
            </a:r>
          </a:p>
        </p:txBody>
      </p:sp>
      <p:pic>
        <p:nvPicPr>
          <p:cNvPr id="3" name="Picture 3"/>
          <p:cNvPicPr>
            <a:picLocks noChangeAspect="1"/>
          </p:cNvPicPr>
          <p:nvPr/>
        </p:nvPicPr>
        <p:blipFill>
          <a:blip r:embed="rId3"/>
          <a:srcRect/>
          <a:stretch>
            <a:fillRect/>
          </a:stretch>
        </p:blipFill>
        <p:spPr>
          <a:xfrm>
            <a:off x="427804" y="-216827"/>
            <a:ext cx="2973655" cy="2973655"/>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Agenda</a:t>
            </a:r>
            <a:endParaRPr lang="en-US" sz="1100"/>
          </a:p>
        </p:txBody>
      </p:sp>
      <p:sp>
        <p:nvSpPr>
          <p:cNvPr id="3" name="AutoShape 3"/>
          <p:cNvSpPr/>
          <p:nvPr/>
        </p:nvSpPr>
        <p:spPr>
          <a:xfrm>
            <a:off x="466817" y="1855090"/>
            <a:ext cx="10668000" cy="4826000"/>
          </a:xfrm>
          <a:prstGeom prst="rect">
            <a:avLst/>
          </a:prstGeom>
          <a:noFill/>
          <a:ln w="12700" cap="flat" cmpd="sng">
            <a:noFill/>
            <a:prstDash val="solid"/>
            <a:round/>
          </a:ln>
        </p:spPr>
        <p:txBody>
          <a:bodyPr vert="horz" wrap="square" lIns="0" tIns="0" rIns="0" bIns="0" rtlCol="0" anchor="t" anchorCtr="0">
            <a:normAutofit/>
          </a:bodyPr>
          <a:lstStyle/>
          <a:p>
            <a:pPr marL="254000" indent="-254000" algn="l">
              <a:lnSpc>
                <a:spcPct val="125000"/>
              </a:lnSpc>
              <a:buClr>
                <a:srgbClr val="3C3C3C"/>
              </a:buClr>
              <a:buChar char="•"/>
              <a:defRPr/>
            </a:pPr>
            <a:r>
              <a:rPr lang="en-US" sz="2000" b="0" i="0" u="none" strike="noStrike">
                <a:solidFill>
                  <a:srgbClr val="3C3C3C"/>
                </a:solidFill>
                <a:latin typeface="Open Sans"/>
                <a:ea typeface="Open Sans"/>
                <a:cs typeface="Open Sans"/>
                <a:sym typeface="Open Sans"/>
              </a:rPr>
              <a:t>Executive Summary</a:t>
            </a:r>
            <a:endParaRPr lang="en-US" sz="1100"/>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Data Preparation</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Dataset &amp; Columns</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Problem Statement</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Threads Analysis</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TikTok Analysis</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Comparison</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Bubble Warning System</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Conclusion &amp;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Executive Summary</a:t>
            </a:r>
            <a:endParaRPr lang="en-US" sz="1100"/>
          </a:p>
        </p:txBody>
      </p:sp>
      <p:sp>
        <p:nvSpPr>
          <p:cNvPr id="3" name="AutoShape 3"/>
          <p:cNvSpPr/>
          <p:nvPr/>
        </p:nvSpPr>
        <p:spPr>
          <a:xfrm>
            <a:off x="762000" y="1778000"/>
            <a:ext cx="10668000" cy="1016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16666"/>
              </a:lnSpc>
              <a:defRPr/>
            </a:pPr>
            <a:r>
              <a:rPr lang="en-US" sz="1800" b="0" i="0" u="none" strike="noStrike">
                <a:solidFill>
                  <a:srgbClr val="3C3C3C"/>
                </a:solidFill>
                <a:latin typeface="Open Sans"/>
                <a:ea typeface="Open Sans"/>
                <a:cs typeface="Open Sans"/>
                <a:sym typeface="Open Sans"/>
              </a:rPr>
              <a:t>Analyzed two years of data to distinguish traction from hype. Sustainable platforms show organic retention. Bubbles rely on paid ads and lack steady usage.</a:t>
            </a:r>
            <a:endParaRPr lang="en-US" sz="1100"/>
          </a:p>
        </p:txBody>
      </p:sp>
      <p:sp>
        <p:nvSpPr>
          <p:cNvPr id="4" name="AutoShape 4"/>
          <p:cNvSpPr/>
          <p:nvPr/>
        </p:nvSpPr>
        <p:spPr>
          <a:xfrm>
            <a:off x="762000" y="3048000"/>
            <a:ext cx="3302000" cy="3048000"/>
          </a:xfrm>
          <a:prstGeom prst="roundRect">
            <a:avLst>
              <a:gd name="adj" fmla="val 5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254000" rIns="254000" bIns="254000" rtlCol="0" anchor="t" anchorCtr="0">
            <a:normAutofit/>
          </a:bodyPr>
          <a:lstStyle/>
          <a:p>
            <a:pPr indent="0" algn="l">
              <a:lnSpc>
                <a:spcPct val="125000"/>
              </a:lnSpc>
              <a:defRPr/>
            </a:pPr>
            <a:r>
              <a:rPr lang="en-US" sz="2000" b="1" i="0" u="none" strike="noStrike">
                <a:solidFill>
                  <a:srgbClr val="142850"/>
                </a:solidFill>
                <a:latin typeface="Montserrat"/>
                <a:ea typeface="Montserrat"/>
                <a:cs typeface="Montserrat"/>
                <a:sym typeface="Montserrat"/>
              </a:rPr>
              <a:t>TikTok Growth</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Sustainable model. </a:t>
            </a:r>
            <a:r>
              <a:rPr lang="en-US" sz="1400" b="1" i="0" u="none" strike="noStrike">
                <a:solidFill>
                  <a:srgbClr val="3C3C3C"/>
                </a:solidFill>
                <a:latin typeface="Open Sans"/>
                <a:ea typeface="Open Sans"/>
                <a:cs typeface="Open Sans"/>
                <a:sym typeface="Open Sans"/>
              </a:rPr>
              <a:t>0.92</a:t>
            </a:r>
            <a:r>
              <a:rPr lang="en-US" sz="1400" b="0" i="0" u="none" strike="noStrike">
                <a:solidFill>
                  <a:srgbClr val="3C3C3C"/>
                </a:solidFill>
                <a:latin typeface="Open Sans"/>
                <a:ea typeface="Open Sans"/>
                <a:cs typeface="Open Sans"/>
                <a:sym typeface="Open Sans"/>
              </a:rPr>
              <a:t> engagement correlation. Mostly organic traffic (</a:t>
            </a:r>
            <a:r>
              <a:rPr lang="en-US" sz="1400" b="1" i="0" u="none" strike="noStrike">
                <a:solidFill>
                  <a:srgbClr val="3C3C3C"/>
                </a:solidFill>
                <a:latin typeface="Open Sans"/>
                <a:ea typeface="Open Sans"/>
                <a:cs typeface="Open Sans"/>
                <a:sym typeface="Open Sans"/>
              </a:rPr>
              <a:t>~85%</a:t>
            </a:r>
            <a:r>
              <a:rPr lang="en-US" sz="1400" b="0" i="0" u="none" strike="noStrike">
                <a:solidFill>
                  <a:srgbClr val="3C3C3C"/>
                </a:solidFill>
                <a:latin typeface="Open Sans"/>
                <a:ea typeface="Open Sans"/>
                <a:cs typeface="Open Sans"/>
                <a:sym typeface="Open Sans"/>
              </a:rPr>
              <a:t>) with stable retention.</a:t>
            </a:r>
          </a:p>
        </p:txBody>
      </p:sp>
      <p:sp>
        <p:nvSpPr>
          <p:cNvPr id="5" name="AutoShape 5"/>
          <p:cNvSpPr/>
          <p:nvPr/>
        </p:nvSpPr>
        <p:spPr>
          <a:xfrm>
            <a:off x="4445000" y="3048000"/>
            <a:ext cx="3302000" cy="3048000"/>
          </a:xfrm>
          <a:prstGeom prst="roundRect">
            <a:avLst>
              <a:gd name="adj" fmla="val 5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254000" rIns="254000" bIns="254000" rtlCol="0" anchor="t" anchorCtr="0">
            <a:normAutofit/>
          </a:bodyPr>
          <a:lstStyle/>
          <a:p>
            <a:pPr indent="0" algn="l">
              <a:lnSpc>
                <a:spcPct val="125000"/>
              </a:lnSpc>
              <a:defRPr/>
            </a:pPr>
            <a:r>
              <a:rPr lang="en-US" sz="2000" b="1" i="0" u="none" strike="noStrike">
                <a:solidFill>
                  <a:srgbClr val="142850"/>
                </a:solidFill>
                <a:latin typeface="Montserrat"/>
                <a:ea typeface="Montserrat"/>
                <a:cs typeface="Montserrat"/>
                <a:sym typeface="Montserrat"/>
              </a:rPr>
              <a:t>Threads Bubble</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Classic bubble driven by paid ads (</a:t>
            </a:r>
            <a:r>
              <a:rPr lang="en-US" sz="1400" b="1" i="0" u="none" strike="noStrike">
                <a:solidFill>
                  <a:srgbClr val="3C3C3C"/>
                </a:solidFill>
                <a:latin typeface="Open Sans"/>
                <a:ea typeface="Open Sans"/>
                <a:cs typeface="Open Sans"/>
                <a:sym typeface="Open Sans"/>
              </a:rPr>
              <a:t>~60%</a:t>
            </a:r>
            <a:r>
              <a:rPr lang="en-US" sz="1400" b="0" i="0" u="none" strike="noStrike">
                <a:solidFill>
                  <a:srgbClr val="3C3C3C"/>
                </a:solidFill>
                <a:latin typeface="Open Sans"/>
                <a:ea typeface="Open Sans"/>
                <a:cs typeface="Open Sans"/>
                <a:sym typeface="Open Sans"/>
              </a:rPr>
              <a:t>). High negative churn (</a:t>
            </a:r>
            <a:r>
              <a:rPr lang="en-US" sz="1400" b="1" i="0" u="none" strike="noStrike">
                <a:solidFill>
                  <a:srgbClr val="3C3C3C"/>
                </a:solidFill>
                <a:latin typeface="Open Sans"/>
                <a:ea typeface="Open Sans"/>
                <a:cs typeface="Open Sans"/>
                <a:sym typeface="Open Sans"/>
              </a:rPr>
              <a:t>-0.7</a:t>
            </a:r>
            <a:r>
              <a:rPr lang="en-US" sz="1400" b="0" i="0" u="none" strike="noStrike">
                <a:solidFill>
                  <a:srgbClr val="3C3C3C"/>
                </a:solidFill>
                <a:latin typeface="Open Sans"/>
                <a:ea typeface="Open Sans"/>
                <a:cs typeface="Open Sans"/>
                <a:sym typeface="Open Sans"/>
              </a:rPr>
              <a:t>) shows rapid decline.</a:t>
            </a:r>
          </a:p>
        </p:txBody>
      </p:sp>
      <p:sp>
        <p:nvSpPr>
          <p:cNvPr id="6" name="AutoShape 6"/>
          <p:cNvSpPr/>
          <p:nvPr/>
        </p:nvSpPr>
        <p:spPr>
          <a:xfrm>
            <a:off x="8128000" y="3048000"/>
            <a:ext cx="3302000" cy="3048000"/>
          </a:xfrm>
          <a:prstGeom prst="roundRect">
            <a:avLst>
              <a:gd name="adj" fmla="val 5000"/>
            </a:avLst>
          </a:prstGeom>
          <a:solidFill>
            <a:srgbClr val="FFFFFF">
              <a:alpha val="100000"/>
            </a:srgbClr>
          </a:solidFill>
          <a:ln w="25400" cap="flat" cmpd="sng">
            <a:solidFill>
              <a:srgbClr val="E67832">
                <a:alpha val="100000"/>
              </a:srgbClr>
            </a:solidFill>
            <a:prstDash val="solid"/>
            <a:round/>
          </a:ln>
          <a:effectLst>
            <a:outerShdw blurRad="127000" dist="50800" dir="2700000" algn="tl" rotWithShape="0">
              <a:srgbClr val="000000">
                <a:alpha val="5000"/>
              </a:srgbClr>
            </a:outerShdw>
          </a:effectLst>
        </p:spPr>
        <p:txBody>
          <a:bodyPr vert="horz" wrap="square" lIns="254000" tIns="254000" rIns="254000" bIns="254000" rtlCol="0" anchor="t" anchorCtr="0">
            <a:normAutofit/>
          </a:bodyPr>
          <a:lstStyle/>
          <a:p>
            <a:pPr indent="0" algn="l">
              <a:lnSpc>
                <a:spcPct val="125000"/>
              </a:lnSpc>
              <a:defRPr/>
            </a:pPr>
            <a:r>
              <a:rPr lang="en-US" sz="2000" b="1" i="0" u="none" strike="noStrike">
                <a:solidFill>
                  <a:srgbClr val="E67832"/>
                </a:solidFill>
                <a:latin typeface="Montserrat"/>
                <a:ea typeface="Montserrat"/>
                <a:cs typeface="Montserrat"/>
                <a:sym typeface="Montserrat"/>
              </a:rPr>
              <a:t>Key Criterion</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Sustainability needs </a:t>
            </a:r>
            <a:r>
              <a:rPr lang="en-US" sz="1400" b="1" i="0" u="none" strike="noStrike">
                <a:solidFill>
                  <a:srgbClr val="3C3C3C"/>
                </a:solidFill>
                <a:latin typeface="Open Sans"/>
                <a:ea typeface="Open Sans"/>
                <a:cs typeface="Open Sans"/>
                <a:sym typeface="Open Sans"/>
              </a:rPr>
              <a:t>75–90%</a:t>
            </a:r>
            <a:r>
              <a:rPr lang="en-US" sz="1400" b="0" i="0" u="none" strike="noStrike">
                <a:solidFill>
                  <a:srgbClr val="3C3C3C"/>
                </a:solidFill>
                <a:latin typeface="Open Sans"/>
                <a:ea typeface="Open Sans"/>
                <a:cs typeface="Open Sans"/>
                <a:sym typeface="Open Sans"/>
              </a:rPr>
              <a:t> organic share and </a:t>
            </a:r>
            <a:r>
              <a:rPr lang="en-US" sz="1400" b="1" i="0" u="none" strike="noStrike">
                <a:solidFill>
                  <a:srgbClr val="3C3C3C"/>
                </a:solidFill>
                <a:latin typeface="Open Sans"/>
                <a:ea typeface="Open Sans"/>
                <a:cs typeface="Open Sans"/>
                <a:sym typeface="Open Sans"/>
              </a:rPr>
              <a:t>&gt;0.85</a:t>
            </a:r>
            <a:r>
              <a:rPr lang="en-US" sz="1400" b="0" i="0" u="none" strike="noStrike">
                <a:solidFill>
                  <a:srgbClr val="3C3C3C"/>
                </a:solidFill>
                <a:latin typeface="Open Sans"/>
                <a:ea typeface="Open Sans"/>
                <a:cs typeface="Open Sans"/>
                <a:sym typeface="Open Sans"/>
              </a:rPr>
              <a:t> engagement correlation.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Data Cleaning</a:t>
            </a:r>
            <a:endParaRPr lang="en-US" sz="1100"/>
          </a:p>
        </p:txBody>
      </p:sp>
      <p:sp>
        <p:nvSpPr>
          <p:cNvPr id="3" name="AutoShape 3"/>
          <p:cNvSpPr/>
          <p:nvPr/>
        </p:nvSpPr>
        <p:spPr>
          <a:xfrm>
            <a:off x="762000" y="1524000"/>
            <a:ext cx="10668000" cy="508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800" b="0" i="0" u="none" strike="noStrike">
                <a:solidFill>
                  <a:srgbClr val="3C3C3C"/>
                </a:solidFill>
                <a:latin typeface="Open Sans"/>
                <a:ea typeface="Open Sans"/>
                <a:cs typeface="Open Sans"/>
                <a:sym typeface="Open Sans"/>
              </a:rPr>
              <a:t>Preparation steps ensured reliability and integrity.</a:t>
            </a:r>
            <a:endParaRPr lang="en-US" sz="1100"/>
          </a:p>
        </p:txBody>
      </p:sp>
      <p:sp>
        <p:nvSpPr>
          <p:cNvPr id="4" name="AutoShape 4"/>
          <p:cNvSpPr/>
          <p:nvPr/>
        </p:nvSpPr>
        <p:spPr>
          <a:xfrm>
            <a:off x="762000" y="2286000"/>
            <a:ext cx="5207000" cy="1270000"/>
          </a:xfrm>
          <a:prstGeom prst="roundRect">
            <a:avLst>
              <a:gd name="adj" fmla="val 12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0" rIns="254000" bIns="0" rtlCol="0" anchor="ctr" anchorCtr="0">
            <a:normAutofit/>
          </a:bodyPr>
          <a:lstStyle/>
          <a:p>
            <a:pPr indent="0" algn="l">
              <a:lnSpc>
                <a:spcPct val="125000"/>
              </a:lnSpc>
              <a:defRPr/>
            </a:pPr>
            <a:r>
              <a:rPr lang="en-US" sz="1800" b="1" i="0" u="none" strike="noStrike">
                <a:solidFill>
                  <a:srgbClr val="142850"/>
                </a:solidFill>
                <a:latin typeface="Montserrat"/>
                <a:ea typeface="Montserrat"/>
                <a:cs typeface="Montserrat"/>
                <a:sym typeface="Montserrat"/>
              </a:rPr>
              <a:t>Missing Values</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Imputed or removed for better accuracy.</a:t>
            </a:r>
          </a:p>
        </p:txBody>
      </p:sp>
      <p:sp>
        <p:nvSpPr>
          <p:cNvPr id="5" name="AutoShape 5"/>
          <p:cNvSpPr/>
          <p:nvPr/>
        </p:nvSpPr>
        <p:spPr>
          <a:xfrm>
            <a:off x="6223000" y="2286000"/>
            <a:ext cx="5207000" cy="1270000"/>
          </a:xfrm>
          <a:prstGeom prst="roundRect">
            <a:avLst>
              <a:gd name="adj" fmla="val 12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0" rIns="254000" bIns="0" rtlCol="0" anchor="ctr" anchorCtr="0">
            <a:normAutofit/>
          </a:bodyPr>
          <a:lstStyle/>
          <a:p>
            <a:pPr indent="0" algn="l">
              <a:lnSpc>
                <a:spcPct val="125000"/>
              </a:lnSpc>
              <a:defRPr/>
            </a:pPr>
            <a:r>
              <a:rPr lang="en-US" sz="1800" b="1" i="0" u="none" strike="noStrike">
                <a:solidFill>
                  <a:srgbClr val="142850"/>
                </a:solidFill>
                <a:latin typeface="Montserrat"/>
                <a:ea typeface="Montserrat"/>
                <a:cs typeface="Montserrat"/>
                <a:sym typeface="Montserrat"/>
              </a:rPr>
              <a:t>Date Standardization</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Unified formats for consistent analysis.</a:t>
            </a:r>
          </a:p>
        </p:txBody>
      </p:sp>
      <p:sp>
        <p:nvSpPr>
          <p:cNvPr id="6" name="AutoShape 6"/>
          <p:cNvSpPr/>
          <p:nvPr/>
        </p:nvSpPr>
        <p:spPr>
          <a:xfrm>
            <a:off x="762000" y="3746500"/>
            <a:ext cx="5207000" cy="1270000"/>
          </a:xfrm>
          <a:prstGeom prst="roundRect">
            <a:avLst>
              <a:gd name="adj" fmla="val 12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0" rIns="254000" bIns="0" rtlCol="0" anchor="ctr" anchorCtr="0">
            <a:normAutofit/>
          </a:bodyPr>
          <a:lstStyle/>
          <a:p>
            <a:pPr indent="0" algn="l">
              <a:lnSpc>
                <a:spcPct val="125000"/>
              </a:lnSpc>
              <a:defRPr/>
            </a:pPr>
            <a:r>
              <a:rPr lang="en-US" sz="1800" b="1" i="0" u="none" strike="noStrike">
                <a:solidFill>
                  <a:srgbClr val="142850"/>
                </a:solidFill>
                <a:latin typeface="Montserrat"/>
                <a:ea typeface="Montserrat"/>
                <a:cs typeface="Montserrat"/>
                <a:sym typeface="Montserrat"/>
              </a:rPr>
              <a:t>Duplicates</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Removed from both datasets.</a:t>
            </a:r>
          </a:p>
        </p:txBody>
      </p:sp>
      <p:sp>
        <p:nvSpPr>
          <p:cNvPr id="7" name="AutoShape 7"/>
          <p:cNvSpPr/>
          <p:nvPr/>
        </p:nvSpPr>
        <p:spPr>
          <a:xfrm>
            <a:off x="6223000" y="3746500"/>
            <a:ext cx="5207000" cy="1270000"/>
          </a:xfrm>
          <a:prstGeom prst="roundRect">
            <a:avLst>
              <a:gd name="adj" fmla="val 12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0" rIns="254000" bIns="0" rtlCol="0" anchor="ctr" anchorCtr="0">
            <a:normAutofit/>
          </a:bodyPr>
          <a:lstStyle/>
          <a:p>
            <a:pPr indent="0" algn="l">
              <a:lnSpc>
                <a:spcPct val="125000"/>
              </a:lnSpc>
              <a:defRPr/>
            </a:pPr>
            <a:r>
              <a:rPr lang="en-US" sz="1800" b="1" i="0" u="none" strike="noStrike">
                <a:solidFill>
                  <a:srgbClr val="142850"/>
                </a:solidFill>
                <a:latin typeface="Montserrat"/>
                <a:ea typeface="Montserrat"/>
                <a:cs typeface="Montserrat"/>
                <a:sym typeface="Montserrat"/>
              </a:rPr>
              <a:t>Numeric Normalization</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Standardized ranges and units (0–100).</a:t>
            </a:r>
          </a:p>
        </p:txBody>
      </p:sp>
      <p:sp>
        <p:nvSpPr>
          <p:cNvPr id="8" name="AutoShape 8"/>
          <p:cNvSpPr/>
          <p:nvPr/>
        </p:nvSpPr>
        <p:spPr>
          <a:xfrm>
            <a:off x="762000" y="5207000"/>
            <a:ext cx="5207000" cy="1270000"/>
          </a:xfrm>
          <a:prstGeom prst="roundRect">
            <a:avLst>
              <a:gd name="adj" fmla="val 12000"/>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254000" tIns="0" rIns="254000" bIns="0" rtlCol="0" anchor="ctr" anchorCtr="0">
            <a:normAutofit/>
          </a:bodyPr>
          <a:lstStyle/>
          <a:p>
            <a:pPr indent="0" algn="l">
              <a:lnSpc>
                <a:spcPct val="125000"/>
              </a:lnSpc>
              <a:defRPr/>
            </a:pPr>
            <a:r>
              <a:rPr lang="en-US" sz="1800" b="1" i="0" u="none" strike="noStrike">
                <a:solidFill>
                  <a:srgbClr val="142850"/>
                </a:solidFill>
                <a:latin typeface="Montserrat"/>
                <a:ea typeface="Montserrat"/>
                <a:cs typeface="Montserrat"/>
                <a:sym typeface="Montserrat"/>
              </a:rPr>
              <a:t>Outliers</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Fixed errors like negative churn.</a:t>
            </a:r>
          </a:p>
        </p:txBody>
      </p:sp>
      <p:sp>
        <p:nvSpPr>
          <p:cNvPr id="9" name="AutoShape 9"/>
          <p:cNvSpPr/>
          <p:nvPr/>
        </p:nvSpPr>
        <p:spPr>
          <a:xfrm>
            <a:off x="6223000" y="5207000"/>
            <a:ext cx="5207000" cy="1270000"/>
          </a:xfrm>
          <a:prstGeom prst="roundRect">
            <a:avLst>
              <a:gd name="adj" fmla="val 12000"/>
            </a:avLst>
          </a:prstGeom>
          <a:solidFill>
            <a:srgbClr val="FFFFFF">
              <a:alpha val="100000"/>
            </a:srgbClr>
          </a:solidFill>
          <a:ln w="25400" cap="flat" cmpd="sng">
            <a:solidFill>
              <a:srgbClr val="E67832">
                <a:alpha val="100000"/>
              </a:srgbClr>
            </a:solidFill>
            <a:prstDash val="solid"/>
            <a:round/>
          </a:ln>
          <a:effectLst>
            <a:outerShdw blurRad="127000" dist="50800" dir="2700000" algn="tl" rotWithShape="0">
              <a:srgbClr val="000000">
                <a:alpha val="5000"/>
              </a:srgbClr>
            </a:outerShdw>
          </a:effectLst>
        </p:spPr>
        <p:txBody>
          <a:bodyPr vert="horz" wrap="square" lIns="254000" tIns="0" rIns="25400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Result</a:t>
            </a:r>
            <a:endParaRPr lang="en-US" sz="1100"/>
          </a:p>
          <a:p>
            <a:pPr indent="0" algn="l">
              <a:lnSpc>
                <a:spcPct val="125000"/>
              </a:lnSpc>
            </a:pPr>
            <a:r>
              <a:rPr lang="en-US" sz="1400" b="0" i="0" u="none" strike="noStrike">
                <a:solidFill>
                  <a:srgbClr val="3C3C3C"/>
                </a:solidFill>
                <a:latin typeface="Open Sans"/>
                <a:ea typeface="Open Sans"/>
                <a:cs typeface="Open Sans"/>
                <a:sym typeface="Open Sans"/>
              </a:rPr>
              <a:t>Clean, accurate records ready for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Data Quality</a:t>
            </a:r>
            <a:endParaRPr lang="en-US" sz="1100"/>
          </a:p>
        </p:txBody>
      </p:sp>
      <p:sp>
        <p:nvSpPr>
          <p:cNvPr id="3" name="AutoShape 3"/>
          <p:cNvSpPr/>
          <p:nvPr/>
        </p:nvSpPr>
        <p:spPr>
          <a:xfrm>
            <a:off x="762000" y="1778000"/>
            <a:ext cx="10668000" cy="4318000"/>
          </a:xfrm>
          <a:prstGeom prst="roundRect">
            <a:avLst>
              <a:gd name="adj" fmla="val 3529"/>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79400" indent="-279400" algn="l">
              <a:lnSpc>
                <a:spcPct val="125000"/>
              </a:lnSpc>
              <a:buClr>
                <a:srgbClr val="3C3C3C"/>
              </a:buClr>
              <a:buChar char="•"/>
              <a:defRPr/>
            </a:pPr>
            <a:r>
              <a:rPr lang="en-US" sz="2200" b="0" i="0" u="none" strike="noStrike">
                <a:solidFill>
                  <a:srgbClr val="3C3C3C"/>
                </a:solidFill>
                <a:latin typeface="Open Sans"/>
                <a:ea typeface="Open Sans"/>
                <a:cs typeface="Open Sans"/>
                <a:sym typeface="Open Sans"/>
              </a:rPr>
              <a:t>Validity: logical values; scores 0–100; churn 0–1</a:t>
            </a:r>
            <a:endParaRPr lang="en-US" sz="1100"/>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Accuracy: corrected errors (e.g., negative churn)</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Completeness: all key fields filled</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Consistency: standardized dates and formats</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Uniformity: aligned structure across platforms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Dataset &amp; Columns</a:t>
            </a:r>
            <a:endParaRPr lang="en-US" sz="1100"/>
          </a:p>
        </p:txBody>
      </p:sp>
      <p:sp>
        <p:nvSpPr>
          <p:cNvPr id="3" name="AutoShape 3"/>
          <p:cNvSpPr/>
          <p:nvPr/>
        </p:nvSpPr>
        <p:spPr>
          <a:xfrm>
            <a:off x="762000" y="1778000"/>
            <a:ext cx="10668000" cy="4318000"/>
          </a:xfrm>
          <a:prstGeom prst="roundRect">
            <a:avLst>
              <a:gd name="adj" fmla="val 3529"/>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79400" indent="-279400" algn="l">
              <a:lnSpc>
                <a:spcPct val="125000"/>
              </a:lnSpc>
              <a:buClr>
                <a:srgbClr val="3C3C3C"/>
              </a:buClr>
              <a:buChar char="•"/>
              <a:defRPr/>
            </a:pPr>
            <a:r>
              <a:rPr lang="en-US" sz="2200" b="0" i="0" u="none" strike="noStrike">
                <a:solidFill>
                  <a:srgbClr val="3C3C3C"/>
                </a:solidFill>
                <a:latin typeface="Open Sans"/>
                <a:ea typeface="Open Sans"/>
                <a:cs typeface="Open Sans"/>
                <a:sym typeface="Open Sans"/>
              </a:rPr>
              <a:t>Platforms: Threads &amp; TikTok (Sustainable vs Bubble)</a:t>
            </a:r>
            <a:endParaRPr lang="en-US" sz="1100"/>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Columns: Date, DAU, Session Duration, Churn, Organic %</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Factors: Twitter Volatility / Algorithm Score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Problem Statement</a:t>
            </a:r>
            <a:endParaRPr lang="en-US" sz="1100"/>
          </a:p>
        </p:txBody>
      </p:sp>
      <p:sp>
        <p:nvSpPr>
          <p:cNvPr id="3" name="AutoShape 3"/>
          <p:cNvSpPr/>
          <p:nvPr/>
        </p:nvSpPr>
        <p:spPr>
          <a:xfrm>
            <a:off x="762000" y="1778000"/>
            <a:ext cx="10668000" cy="4318000"/>
          </a:xfrm>
          <a:prstGeom prst="roundRect">
            <a:avLst>
              <a:gd name="adj" fmla="val 3529"/>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79400" indent="-279400" algn="l">
              <a:lnSpc>
                <a:spcPct val="125000"/>
              </a:lnSpc>
              <a:buClr>
                <a:srgbClr val="3C3C3C"/>
              </a:buClr>
              <a:buChar char="•"/>
              <a:defRPr/>
            </a:pPr>
            <a:r>
              <a:rPr lang="en-US" sz="2200" b="0" i="0" u="none" strike="noStrike">
                <a:solidFill>
                  <a:srgbClr val="3C3C3C"/>
                </a:solidFill>
                <a:latin typeface="Open Sans"/>
                <a:ea typeface="Open Sans"/>
                <a:cs typeface="Open Sans"/>
                <a:sym typeface="Open Sans"/>
              </a:rPr>
              <a:t>User counts mislead without engagement data</a:t>
            </a:r>
            <a:endParaRPr lang="en-US" sz="1100"/>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Need data to separate real growth from hype</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Approach: Use correlations and organic share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Heatmaps: Threads vs TikTok</a:t>
            </a:r>
            <a:endParaRPr lang="en-US" sz="1100"/>
          </a:p>
        </p:txBody>
      </p:sp>
      <p:sp>
        <p:nvSpPr>
          <p:cNvPr id="3" name="AutoShape 3"/>
          <p:cNvSpPr/>
          <p:nvPr/>
        </p:nvSpPr>
        <p:spPr>
          <a:xfrm>
            <a:off x="762000" y="1270000"/>
            <a:ext cx="4381500" cy="381000"/>
          </a:xfrm>
          <a:prstGeom prst="rect">
            <a:avLst/>
          </a:prstGeom>
          <a:noFill/>
          <a:ln w="12700" cap="flat" cmpd="sng">
            <a:noFill/>
            <a:prstDash val="solid"/>
            <a:round/>
          </a:ln>
        </p:spPr>
        <p:txBody>
          <a:bodyPr vert="horz" wrap="square" lIns="0" tIns="0" rIns="0" bIns="0" rtlCol="0" anchor="b" anchorCtr="0">
            <a:normAutofit/>
          </a:bodyPr>
          <a:lstStyle/>
          <a:p>
            <a:pPr indent="0" algn="ctr">
              <a:lnSpc>
                <a:spcPct val="116666"/>
              </a:lnSpc>
              <a:defRPr/>
            </a:pPr>
            <a:r>
              <a:rPr lang="en-US" sz="2000" b="1" i="0" u="none" strike="noStrike">
                <a:solidFill>
                  <a:srgbClr val="E67832"/>
                </a:solidFill>
                <a:latin typeface="Montserrat"/>
                <a:ea typeface="Montserrat"/>
                <a:cs typeface="Montserrat"/>
                <a:sym typeface="Montserrat"/>
              </a:rPr>
              <a:t>Threads</a:t>
            </a:r>
            <a:endParaRPr lang="en-US" sz="1100"/>
          </a:p>
        </p:txBody>
      </p:sp>
      <p:sp>
        <p:nvSpPr>
          <p:cNvPr id="4" name="AutoShape 4"/>
          <p:cNvSpPr/>
          <p:nvPr/>
        </p:nvSpPr>
        <p:spPr>
          <a:xfrm>
            <a:off x="5778500" y="1270000"/>
            <a:ext cx="4889500" cy="381000"/>
          </a:xfrm>
          <a:prstGeom prst="rect">
            <a:avLst/>
          </a:prstGeom>
          <a:noFill/>
          <a:ln w="12700" cap="flat" cmpd="sng">
            <a:noFill/>
            <a:prstDash val="solid"/>
            <a:round/>
          </a:ln>
        </p:spPr>
        <p:txBody>
          <a:bodyPr vert="horz" wrap="square" lIns="0" tIns="0" rIns="0" bIns="0" rtlCol="0" anchor="b" anchorCtr="0">
            <a:normAutofit/>
          </a:bodyPr>
          <a:lstStyle/>
          <a:p>
            <a:pPr indent="0" algn="ctr">
              <a:lnSpc>
                <a:spcPct val="116666"/>
              </a:lnSpc>
              <a:defRPr/>
            </a:pPr>
            <a:r>
              <a:rPr lang="en-US" sz="2000" b="1" i="0" u="none" strike="noStrike">
                <a:solidFill>
                  <a:srgbClr val="E67832"/>
                </a:solidFill>
                <a:latin typeface="Montserrat"/>
                <a:ea typeface="Montserrat"/>
                <a:cs typeface="Montserrat"/>
                <a:sym typeface="Montserrat"/>
              </a:rPr>
              <a:t>TikTok</a:t>
            </a:r>
            <a:endParaRPr lang="en-US" sz="1100"/>
          </a:p>
        </p:txBody>
      </p:sp>
      <p:pic>
        <p:nvPicPr>
          <p:cNvPr id="5" name="Picture 5"/>
          <p:cNvPicPr>
            <a:picLocks noChangeAspect="1"/>
          </p:cNvPicPr>
          <p:nvPr/>
        </p:nvPicPr>
        <p:blipFill>
          <a:blip r:embed="rId3"/>
          <a:srcRect l="37" r="37"/>
          <a:stretch>
            <a:fillRect/>
          </a:stretch>
        </p:blipFill>
        <p:spPr>
          <a:xfrm>
            <a:off x="762000" y="1714500"/>
            <a:ext cx="4553660" cy="3695724"/>
          </a:xfrm>
          <a:prstGeom prst="rect">
            <a:avLst/>
          </a:prstGeom>
          <a:noFill/>
          <a:ln w="25400" cap="flat" cmpd="sng">
            <a:noFill/>
            <a:prstDash val="solid"/>
            <a:round/>
          </a:ln>
        </p:spPr>
      </p:pic>
      <p:pic>
        <p:nvPicPr>
          <p:cNvPr id="6" name="Picture 6"/>
          <p:cNvPicPr>
            <a:picLocks noChangeAspect="1"/>
          </p:cNvPicPr>
          <p:nvPr/>
        </p:nvPicPr>
        <p:blipFill>
          <a:blip r:embed="rId4"/>
          <a:srcRect t="39" b="39"/>
          <a:stretch>
            <a:fillRect/>
          </a:stretch>
        </p:blipFill>
        <p:spPr>
          <a:xfrm>
            <a:off x="5778500" y="1714500"/>
            <a:ext cx="5081621" cy="3695724"/>
          </a:xfrm>
          <a:prstGeom prst="rect">
            <a:avLst/>
          </a:prstGeom>
          <a:noFill/>
          <a:ln w="25400" cap="flat" cmpd="sng">
            <a:noFill/>
            <a:prstDash val="solid"/>
            <a:round/>
          </a:ln>
        </p:spPr>
      </p:pic>
      <p:sp>
        <p:nvSpPr>
          <p:cNvPr id="7" name="AutoShape 7"/>
          <p:cNvSpPr/>
          <p:nvPr/>
        </p:nvSpPr>
        <p:spPr>
          <a:xfrm>
            <a:off x="762000" y="5524500"/>
            <a:ext cx="10668000" cy="1270000"/>
          </a:xfrm>
          <a:prstGeom prst="rect">
            <a:avLst/>
          </a:prstGeom>
          <a:noFill/>
          <a:ln w="12700" cap="flat" cmpd="sng">
            <a:noFill/>
            <a:prstDash val="solid"/>
            <a:round/>
          </a:ln>
        </p:spPr>
        <p:txBody>
          <a:bodyPr vert="horz" wrap="square" lIns="0" tIns="0" rIns="0" bIns="0" rtlCol="0" anchor="t" anchorCtr="0">
            <a:normAutofit/>
          </a:bodyPr>
          <a:lstStyle/>
          <a:p>
            <a:pPr marL="228600" indent="-228600" algn="l">
              <a:lnSpc>
                <a:spcPct val="116666"/>
              </a:lnSpc>
              <a:buClr>
                <a:srgbClr val="3C3C3C"/>
              </a:buClr>
              <a:buChar char="•"/>
              <a:defRPr/>
            </a:pPr>
            <a:r>
              <a:rPr lang="en-US" sz="1800" b="0" i="0" u="none" strike="noStrike">
                <a:solidFill>
                  <a:srgbClr val="3C3C3C"/>
                </a:solidFill>
                <a:latin typeface="Open Sans"/>
                <a:ea typeface="Open Sans"/>
                <a:cs typeface="Open Sans"/>
                <a:sym typeface="Open Sans"/>
              </a:rPr>
              <a:t>Threads: correlations show bubble risks (churn link is strong)</a:t>
            </a:r>
            <a:endParaRPr lang="en-US" sz="1100"/>
          </a:p>
          <a:p>
            <a:pPr marL="228600" indent="-228600" algn="l">
              <a:lnSpc>
                <a:spcPct val="116666"/>
              </a:lnSpc>
              <a:buClr>
                <a:srgbClr val="3C3C3C"/>
              </a:buClr>
              <a:buChar char="•"/>
            </a:pPr>
            <a:r>
              <a:rPr lang="en-US" sz="1800" b="0" i="0" u="none" strike="noStrike">
                <a:solidFill>
                  <a:srgbClr val="3C3C3C"/>
                </a:solidFill>
                <a:latin typeface="Open Sans"/>
                <a:ea typeface="Open Sans"/>
                <a:cs typeface="Open Sans"/>
                <a:sym typeface="Open Sans"/>
              </a:rPr>
              <a:t>TikTok: correlations show healthy engagement and tech impact</a:t>
            </a:r>
          </a:p>
          <a:p>
            <a:pPr marL="228600" indent="-228600" algn="l">
              <a:lnSpc>
                <a:spcPct val="116666"/>
              </a:lnSpc>
              <a:buClr>
                <a:srgbClr val="3C3C3C"/>
              </a:buClr>
              <a:buChar char="•"/>
            </a:pPr>
            <a:r>
              <a:rPr lang="en-US" sz="1800" b="0" i="0" u="none" strike="noStrike">
                <a:solidFill>
                  <a:srgbClr val="3C3C3C"/>
                </a:solidFill>
                <a:latin typeface="Open Sans"/>
                <a:ea typeface="Open Sans"/>
                <a:cs typeface="Open Sans"/>
                <a:sym typeface="Open Sans"/>
              </a:rPr>
              <a:t>Read both to compare patterns quickly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Area Chart Analysis</a:t>
            </a:r>
            <a:endParaRPr lang="en-US" sz="1100"/>
          </a:p>
        </p:txBody>
      </p:sp>
      <p:pic>
        <p:nvPicPr>
          <p:cNvPr id="3" name="Picture 3"/>
          <p:cNvPicPr>
            <a:picLocks noChangeAspect="1"/>
          </p:cNvPicPr>
          <p:nvPr/>
        </p:nvPicPr>
        <p:blipFill>
          <a:blip r:embed="rId3"/>
          <a:srcRect t="5" b="5"/>
          <a:stretch>
            <a:fillRect/>
          </a:stretch>
        </p:blipFill>
        <p:spPr>
          <a:xfrm>
            <a:off x="692649" y="1016000"/>
            <a:ext cx="10668000" cy="4419600"/>
          </a:xfrm>
          <a:prstGeom prst="rect">
            <a:avLst/>
          </a:prstGeom>
          <a:noFill/>
          <a:ln w="25400" cap="flat" cmpd="sng">
            <a:noFill/>
            <a:prstDash val="solid"/>
            <a:round/>
          </a:ln>
        </p:spPr>
      </p:pic>
      <p:sp>
        <p:nvSpPr>
          <p:cNvPr id="4" name="AutoShape 4"/>
          <p:cNvSpPr/>
          <p:nvPr/>
        </p:nvSpPr>
        <p:spPr>
          <a:xfrm>
            <a:off x="762000" y="5715000"/>
            <a:ext cx="10668000" cy="1270000"/>
          </a:xfrm>
          <a:prstGeom prst="rect">
            <a:avLst/>
          </a:prstGeom>
          <a:noFill/>
          <a:ln w="12700" cap="flat" cmpd="sng">
            <a:noFill/>
            <a:prstDash val="solid"/>
            <a:round/>
          </a:ln>
        </p:spPr>
        <p:txBody>
          <a:bodyPr vert="horz" wrap="square" lIns="0" tIns="0" rIns="0" bIns="0" rtlCol="0" anchor="t" anchorCtr="0">
            <a:normAutofit/>
          </a:bodyPr>
          <a:lstStyle/>
          <a:p>
            <a:pPr marL="203200" indent="-203200" algn="l">
              <a:lnSpc>
                <a:spcPct val="125000"/>
              </a:lnSpc>
              <a:buClr>
                <a:srgbClr val="3C3C3C"/>
              </a:buClr>
              <a:buChar char="•"/>
              <a:defRPr/>
            </a:pPr>
            <a:r>
              <a:rPr lang="en-US" sz="1600" b="0" i="0" u="none" strike="noStrike">
                <a:solidFill>
                  <a:srgbClr val="3C3C3C"/>
                </a:solidFill>
                <a:latin typeface="Open Sans"/>
                <a:ea typeface="Open Sans"/>
                <a:cs typeface="Open Sans"/>
                <a:sym typeface="Open Sans"/>
              </a:rPr>
              <a:t>Area: compare TikTok vs Threads growth side by side</a:t>
            </a:r>
            <a:endParaRPr lang="en-US" sz="1100"/>
          </a:p>
          <a:p>
            <a:pPr marL="203200" indent="-203200" algn="l">
              <a:lnSpc>
                <a:spcPct val="125000"/>
              </a:lnSpc>
              <a:buClr>
                <a:srgbClr val="3C3C3C"/>
              </a:buClr>
              <a:buChar char="•"/>
            </a:pPr>
            <a:r>
              <a:rPr lang="en-US" sz="1600" b="0" i="0" u="none" strike="noStrike">
                <a:solidFill>
                  <a:srgbClr val="3C3C3C"/>
                </a:solidFill>
                <a:latin typeface="Open Sans"/>
                <a:ea typeface="Open Sans"/>
                <a:cs typeface="Open Sans"/>
                <a:sym typeface="Open Sans"/>
              </a:rPr>
              <a:t>Read the gap: small (TikTok) vs large (Threads)</a:t>
            </a:r>
          </a:p>
          <a:p>
            <a:pPr marL="203200" indent="-203200" algn="l">
              <a:lnSpc>
                <a:spcPct val="125000"/>
              </a:lnSpc>
              <a:buClr>
                <a:srgbClr val="3C3C3C"/>
              </a:buClr>
              <a:buChar char="•"/>
            </a:pPr>
            <a:r>
              <a:rPr lang="en-US" sz="1600" b="0" i="0" u="none" strike="noStrike">
                <a:solidFill>
                  <a:srgbClr val="3C3C3C"/>
                </a:solidFill>
                <a:latin typeface="Open Sans"/>
                <a:ea typeface="Open Sans"/>
                <a:cs typeface="Open Sans"/>
                <a:sym typeface="Open Sans"/>
              </a:rPr>
              <a:t>Takeaway: trends are clear without extra visuals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Dashboard KPIs</a:t>
            </a:r>
            <a:endParaRPr lang="en-US" sz="1100"/>
          </a:p>
        </p:txBody>
      </p:sp>
      <p:sp>
        <p:nvSpPr>
          <p:cNvPr id="3" name="AutoShape 3"/>
          <p:cNvSpPr/>
          <p:nvPr/>
        </p:nvSpPr>
        <p:spPr>
          <a:xfrm>
            <a:off x="762000" y="1651000"/>
            <a:ext cx="7112000" cy="4572000"/>
          </a:xfrm>
          <a:prstGeom prst="roundRect">
            <a:avLst>
              <a:gd name="adj" fmla="val 3333"/>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0" tIns="0" rIns="0" bIns="0" rtlCol="0" anchor="ctr" anchorCtr="0">
            <a:normAutofit/>
          </a:bodyPr>
          <a:lstStyle/>
          <a:p>
            <a:pPr algn="ctr">
              <a:defRPr/>
            </a:pPr>
            <a:endParaRPr/>
          </a:p>
        </p:txBody>
      </p:sp>
      <p:pic>
        <p:nvPicPr>
          <p:cNvPr id="4" name="Picture 4"/>
          <p:cNvPicPr>
            <a:picLocks noChangeAspect="1"/>
          </p:cNvPicPr>
          <p:nvPr/>
        </p:nvPicPr>
        <p:blipFill>
          <a:blip r:embed="rId3"/>
          <a:stretch>
            <a:fillRect/>
          </a:stretch>
        </p:blipFill>
        <p:spPr>
          <a:xfrm>
            <a:off x="1143000" y="2032000"/>
            <a:ext cx="6350000" cy="3810000"/>
          </a:xfrm>
          <a:prstGeom prst="rect">
            <a:avLst/>
          </a:prstGeom>
        </p:spPr>
      </p:pic>
      <p:sp>
        <p:nvSpPr>
          <p:cNvPr id="5" name="AutoShape 5"/>
          <p:cNvSpPr/>
          <p:nvPr/>
        </p:nvSpPr>
        <p:spPr>
          <a:xfrm>
            <a:off x="8255000" y="1651000"/>
            <a:ext cx="3175000" cy="457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16666"/>
              </a:lnSpc>
              <a:defRPr/>
            </a:pPr>
            <a:r>
              <a:rPr lang="en-US" sz="2000" b="1" i="0" u="none" strike="noStrike">
                <a:solidFill>
                  <a:srgbClr val="E67832"/>
                </a:solidFill>
                <a:latin typeface="Montserrat"/>
                <a:ea typeface="Montserrat"/>
                <a:cs typeface="Montserrat"/>
                <a:sym typeface="Montserrat"/>
              </a:rPr>
              <a:t>Organic Dominance</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Open Sans"/>
                <a:ea typeface="Open Sans"/>
                <a:cs typeface="Open Sans"/>
                <a:sym typeface="Open Sans"/>
              </a:rPr>
              <a:t>TikTok: </a:t>
            </a:r>
            <a:r>
              <a:rPr lang="en-US" sz="1600" b="1" i="0" u="none" strike="noStrike">
                <a:solidFill>
                  <a:srgbClr val="3C3C3C"/>
                </a:solidFill>
                <a:latin typeface="Open Sans"/>
                <a:ea typeface="Open Sans"/>
                <a:cs typeface="Open Sans"/>
                <a:sym typeface="Open Sans"/>
              </a:rPr>
              <a:t>85%</a:t>
            </a:r>
            <a:r>
              <a:rPr lang="en-US" sz="1600" b="0" i="0" u="none" strike="noStrike">
                <a:solidFill>
                  <a:srgbClr val="3C3C3C"/>
                </a:solidFill>
                <a:latin typeface="Open Sans"/>
                <a:ea typeface="Open Sans"/>
                <a:cs typeface="Open Sans"/>
                <a:sym typeface="Open Sans"/>
              </a:rPr>
              <a:t> organic. Threads: 40% (marketing-heavy).</a:t>
            </a:r>
            <a:endParaRPr lang="en-US" sz="1100"/>
          </a:p>
          <a:p>
            <a:pPr indent="0" algn="l">
              <a:lnSpc>
                <a:spcPct val="116666"/>
              </a:lnSpc>
            </a:pPr>
            <a:r>
              <a:rPr lang="en-US" sz="2000" b="1" i="0" u="none" strike="noStrike">
                <a:solidFill>
                  <a:srgbClr val="E67832"/>
                </a:solidFill>
                <a:latin typeface="Montserrat"/>
                <a:ea typeface="Montserrat"/>
                <a:cs typeface="Montserrat"/>
                <a:sym typeface="Montserrat"/>
              </a:rPr>
              <a:t>Engagement Lead</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Open Sans"/>
                <a:ea typeface="Open Sans"/>
                <a:cs typeface="Open Sans"/>
                <a:sym typeface="Open Sans"/>
              </a:rPr>
              <a:t>Correlation (</a:t>
            </a:r>
            <a:r>
              <a:rPr lang="en-US" sz="1600" b="1" i="0" u="none" strike="noStrike">
                <a:solidFill>
                  <a:srgbClr val="3C3C3C"/>
                </a:solidFill>
                <a:latin typeface="Open Sans"/>
                <a:ea typeface="Open Sans"/>
                <a:cs typeface="Open Sans"/>
                <a:sym typeface="Open Sans"/>
              </a:rPr>
              <a:t>0.92</a:t>
            </a:r>
            <a:r>
              <a:rPr lang="en-US" sz="1600" b="0" i="0" u="none" strike="noStrike">
                <a:solidFill>
                  <a:srgbClr val="3C3C3C"/>
                </a:solidFill>
                <a:latin typeface="Open Sans"/>
                <a:ea typeface="Open Sans"/>
                <a:cs typeface="Open Sans"/>
                <a:sym typeface="Open Sans"/>
              </a:rPr>
              <a:t>) proves habit formation.</a:t>
            </a:r>
          </a:p>
          <a:p>
            <a:pPr indent="0" algn="l">
              <a:lnSpc>
                <a:spcPct val="116666"/>
              </a:lnSpc>
            </a:pPr>
            <a:r>
              <a:rPr lang="en-US" sz="2000" b="1" i="0" u="none" strike="noStrike">
                <a:solidFill>
                  <a:srgbClr val="E67832"/>
                </a:solidFill>
                <a:latin typeface="Montserrat"/>
                <a:ea typeface="Montserrat"/>
                <a:cs typeface="Montserrat"/>
                <a:sym typeface="Montserrat"/>
              </a:rPr>
              <a:t>Retention Health</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Open Sans"/>
                <a:ea typeface="Open Sans"/>
                <a:cs typeface="Open Sans"/>
                <a:sym typeface="Open Sans"/>
              </a:rPr>
              <a:t>TikTok churn is stable as it scales.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Threads: EDA Key Findings</a:t>
            </a:r>
            <a:endParaRPr lang="en-US" sz="1100"/>
          </a:p>
        </p:txBody>
      </p:sp>
      <p:sp>
        <p:nvSpPr>
          <p:cNvPr id="3" name="AutoShape 3"/>
          <p:cNvSpPr/>
          <p:nvPr/>
        </p:nvSpPr>
        <p:spPr>
          <a:xfrm>
            <a:off x="762000" y="1778000"/>
            <a:ext cx="10668000" cy="4572000"/>
          </a:xfrm>
          <a:prstGeom prst="roundRect">
            <a:avLst>
              <a:gd name="adj" fmla="val 3333"/>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54000" indent="-254000" algn="l">
              <a:lnSpc>
                <a:spcPct val="125000"/>
              </a:lnSpc>
              <a:buClr>
                <a:srgbClr val="3C3C3C"/>
              </a:buClr>
              <a:buChar char="•"/>
              <a:defRPr/>
            </a:pPr>
            <a:r>
              <a:rPr lang="en-US" sz="2000" b="0" i="0" u="none" strike="noStrike">
                <a:solidFill>
                  <a:srgbClr val="3C3C3C"/>
                </a:solidFill>
                <a:latin typeface="Open Sans"/>
                <a:ea typeface="Open Sans"/>
                <a:cs typeface="Open Sans"/>
                <a:sym typeface="Open Sans"/>
              </a:rPr>
              <a:t>DAU vs Session: 0.73 (Strong). Activity spikes, then fades.</a:t>
            </a:r>
            <a:endParaRPr lang="en-US" sz="1100"/>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DAU vs Organic: 0.76 (Strong). Gap widens over time.</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DAU vs Churn: -0.70 (Strong Negative). 'Leaky bucket' decline.</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DAU vs Twitter Volatility: 0.30 (Weak). Minimal external impact.</a:t>
            </a:r>
          </a:p>
          <a:p>
            <a:pPr marL="254000" indent="-254000" algn="l">
              <a:lnSpc>
                <a:spcPct val="125000"/>
              </a:lnSpc>
              <a:buClr>
                <a:srgbClr val="E67832"/>
              </a:buClr>
              <a:buChar char="•"/>
            </a:pPr>
            <a:r>
              <a:rPr lang="en-US" sz="2000" b="1" i="0" u="none" strike="noStrike">
                <a:solidFill>
                  <a:srgbClr val="E67832"/>
                </a:solidFill>
                <a:latin typeface="Open Sans"/>
                <a:ea typeface="Open Sans"/>
                <a:cs typeface="Open Sans"/>
                <a:sym typeface="Open Sans"/>
              </a:rPr>
              <a:t>Verdict: Classic bubble — spike then decline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Churn Trend Analysis</a:t>
            </a:r>
            <a:endParaRPr lang="en-US" sz="1100"/>
          </a:p>
        </p:txBody>
      </p:sp>
      <p:sp>
        <p:nvSpPr>
          <p:cNvPr id="3" name="AutoShape 3"/>
          <p:cNvSpPr/>
          <p:nvPr/>
        </p:nvSpPr>
        <p:spPr>
          <a:xfrm>
            <a:off x="762000" y="1651000"/>
            <a:ext cx="3556000" cy="457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2400" b="1" i="0" u="none" strike="noStrike">
                <a:solidFill>
                  <a:srgbClr val="142850"/>
                </a:solidFill>
                <a:latin typeface="Montserrat"/>
                <a:ea typeface="Montserrat"/>
                <a:cs typeface="Montserrat"/>
                <a:sym typeface="Montserrat"/>
              </a:rPr>
              <a:t>The Leaky Bucket</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Open Sans"/>
                <a:ea typeface="Open Sans"/>
                <a:cs typeface="Open Sans"/>
                <a:sym typeface="Open Sans"/>
              </a:rPr>
              <a:t>Threads fails to retain users despite aggressive acquisition.</a:t>
            </a:r>
            <a:endParaRPr lang="en-US" sz="1100"/>
          </a:p>
          <a:p>
            <a:pPr indent="0" algn="l">
              <a:lnSpc>
                <a:spcPct val="125000"/>
              </a:lnSpc>
            </a:pPr>
            <a:r>
              <a:rPr lang="en-US" sz="2400" b="1" i="0" u="none" strike="noStrike">
                <a:solidFill>
                  <a:srgbClr val="142850"/>
                </a:solidFill>
                <a:latin typeface="Montserrat"/>
                <a:ea typeface="Montserrat"/>
                <a:cs typeface="Montserrat"/>
                <a:sym typeface="Montserrat"/>
              </a:rPr>
              <a:t>Rapid Erosion</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Open Sans"/>
                <a:ea typeface="Open Sans"/>
                <a:cs typeface="Open Sans"/>
                <a:sym typeface="Open Sans"/>
              </a:rPr>
              <a:t>Churn rose from </a:t>
            </a:r>
            <a:r>
              <a:rPr lang="en-US" sz="1600" b="1" i="0" u="none" strike="noStrike">
                <a:solidFill>
                  <a:srgbClr val="3C3C3C"/>
                </a:solidFill>
                <a:latin typeface="Open Sans"/>
                <a:ea typeface="Open Sans"/>
                <a:cs typeface="Open Sans"/>
                <a:sym typeface="Open Sans"/>
              </a:rPr>
              <a:t>~15% to ~45%</a:t>
            </a:r>
            <a:r>
              <a:rPr lang="en-US" sz="1600" b="0" i="0" u="none" strike="noStrike">
                <a:solidFill>
                  <a:srgbClr val="3C3C3C"/>
                </a:solidFill>
                <a:latin typeface="Open Sans"/>
                <a:ea typeface="Open Sans"/>
                <a:cs typeface="Open Sans"/>
                <a:sym typeface="Open Sans"/>
              </a:rPr>
              <a:t> in 8 weeks. A "bubble burst" signal.</a:t>
            </a:r>
          </a:p>
        </p:txBody>
      </p:sp>
      <p:sp>
        <p:nvSpPr>
          <p:cNvPr id="4" name="AutoShape 4"/>
          <p:cNvSpPr/>
          <p:nvPr/>
        </p:nvSpPr>
        <p:spPr>
          <a:xfrm>
            <a:off x="4826000" y="1651000"/>
            <a:ext cx="6604000" cy="4572000"/>
          </a:xfrm>
          <a:prstGeom prst="roundRect">
            <a:avLst>
              <a:gd name="adj" fmla="val 3333"/>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0" tIns="0" rIns="0" bIns="0" rtlCol="0" anchor="ctr" anchorCtr="0">
            <a:normAutofit/>
          </a:bodyPr>
          <a:lstStyle/>
          <a:p>
            <a:pPr algn="ctr">
              <a:defRPr/>
            </a:pPr>
            <a:endParaRPr/>
          </a:p>
        </p:txBody>
      </p:sp>
      <p:pic>
        <p:nvPicPr>
          <p:cNvPr id="5" name="Picture 5"/>
          <p:cNvPicPr>
            <a:picLocks noChangeAspect="1"/>
          </p:cNvPicPr>
          <p:nvPr/>
        </p:nvPicPr>
        <p:blipFill>
          <a:blip r:embed="rId3"/>
          <a:stretch>
            <a:fillRect/>
          </a:stretch>
        </p:blipFill>
        <p:spPr>
          <a:xfrm>
            <a:off x="5207000" y="2032000"/>
            <a:ext cx="5842000" cy="381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TikTok: EDA Key Findings</a:t>
            </a:r>
            <a:endParaRPr lang="en-US" sz="1100"/>
          </a:p>
        </p:txBody>
      </p:sp>
      <p:sp>
        <p:nvSpPr>
          <p:cNvPr id="3" name="AutoShape 3"/>
          <p:cNvSpPr/>
          <p:nvPr/>
        </p:nvSpPr>
        <p:spPr>
          <a:xfrm>
            <a:off x="762000" y="1778000"/>
            <a:ext cx="10668000" cy="4572000"/>
          </a:xfrm>
          <a:prstGeom prst="roundRect">
            <a:avLst>
              <a:gd name="adj" fmla="val 3333"/>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54000" indent="-254000" algn="l">
              <a:lnSpc>
                <a:spcPct val="125000"/>
              </a:lnSpc>
              <a:buClr>
                <a:srgbClr val="3C3C3C"/>
              </a:buClr>
              <a:buChar char="•"/>
              <a:defRPr/>
            </a:pPr>
            <a:r>
              <a:rPr lang="en-US" sz="2000" b="0" i="0" u="none" strike="noStrike">
                <a:solidFill>
                  <a:srgbClr val="3C3C3C"/>
                </a:solidFill>
                <a:latin typeface="Open Sans"/>
                <a:ea typeface="Open Sans"/>
                <a:cs typeface="Open Sans"/>
                <a:sym typeface="Open Sans"/>
              </a:rPr>
              <a:t>DAU vs Session: 0.92 (Very Strong). Engagement scales with growth.</a:t>
            </a:r>
            <a:endParaRPr lang="en-US" sz="1100"/>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DAU vs Algorithm: 0.89 (Strong). Tech drives expansion.</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DAU vs Organic: 0.85 (Very Strong). Mostly organic (75–90%).</a:t>
            </a:r>
          </a:p>
          <a:p>
            <a:pPr marL="254000" indent="-254000" algn="l">
              <a:lnSpc>
                <a:spcPct val="125000"/>
              </a:lnSpc>
              <a:buClr>
                <a:srgbClr val="3C3C3C"/>
              </a:buClr>
              <a:buChar char="•"/>
            </a:pPr>
            <a:r>
              <a:rPr lang="en-US" sz="2000" b="0" i="0" u="none" strike="noStrike">
                <a:solidFill>
                  <a:srgbClr val="3C3C3C"/>
                </a:solidFill>
                <a:latin typeface="Open Sans"/>
                <a:ea typeface="Open Sans"/>
                <a:cs typeface="Open Sans"/>
                <a:sym typeface="Open Sans"/>
              </a:rPr>
              <a:t>DAU vs Churn: -0.15 (Very Weak). Stable retention.</a:t>
            </a:r>
          </a:p>
          <a:p>
            <a:pPr marL="254000" indent="-254000" algn="l">
              <a:lnSpc>
                <a:spcPct val="125000"/>
              </a:lnSpc>
              <a:buClr>
                <a:srgbClr val="E67832"/>
              </a:buClr>
              <a:buChar char="•"/>
            </a:pPr>
            <a:r>
              <a:rPr lang="en-US" sz="2000" b="1" i="0" u="none" strike="noStrike">
                <a:solidFill>
                  <a:srgbClr val="E67832"/>
                </a:solidFill>
                <a:latin typeface="Open Sans"/>
                <a:ea typeface="Open Sans"/>
                <a:cs typeface="Open Sans"/>
                <a:sym typeface="Open Sans"/>
              </a:rPr>
              <a:t>Verdict: Healthy, sustainable growth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Comparison: Sustainable vs Bubble</a:t>
            </a:r>
            <a:endParaRPr lang="en-US" sz="1100"/>
          </a:p>
        </p:txBody>
      </p:sp>
      <p:sp>
        <p:nvSpPr>
          <p:cNvPr id="3" name="AutoShape 3"/>
          <p:cNvSpPr/>
          <p:nvPr/>
        </p:nvSpPr>
        <p:spPr>
          <a:xfrm>
            <a:off x="762000" y="1778000"/>
            <a:ext cx="10668000" cy="4318000"/>
          </a:xfrm>
          <a:prstGeom prst="roundRect">
            <a:avLst>
              <a:gd name="adj" fmla="val 3529"/>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79400" indent="-279400" algn="l">
              <a:lnSpc>
                <a:spcPct val="125000"/>
              </a:lnSpc>
              <a:buClr>
                <a:srgbClr val="142850"/>
              </a:buClr>
              <a:buChar char="•"/>
              <a:defRPr/>
            </a:pPr>
            <a:r>
              <a:rPr lang="en-US" sz="2200" b="1" i="0" u="none" strike="noStrike">
                <a:solidFill>
                  <a:srgbClr val="142850"/>
                </a:solidFill>
                <a:latin typeface="Open Sans"/>
                <a:ea typeface="Open Sans"/>
                <a:cs typeface="Open Sans"/>
                <a:sym typeface="Open Sans"/>
              </a:rPr>
              <a:t>TikTok:</a:t>
            </a:r>
            <a:r>
              <a:rPr lang="en-US" sz="2200" b="0" i="0" u="none" strike="noStrike">
                <a:solidFill>
                  <a:srgbClr val="3C3C3C"/>
                </a:solidFill>
                <a:latin typeface="Open Sans"/>
                <a:ea typeface="Open Sans"/>
                <a:cs typeface="Open Sans"/>
                <a:sym typeface="Open Sans"/>
              </a:rPr>
              <a:t> 75–90% organic. Small gap to total DAU. Steady climb.</a:t>
            </a:r>
            <a:endParaRPr lang="en-US" sz="1100"/>
          </a:p>
          <a:p>
            <a:pPr marL="279400" indent="-279400" algn="l">
              <a:lnSpc>
                <a:spcPct val="125000"/>
              </a:lnSpc>
              <a:buClr>
                <a:srgbClr val="142850"/>
              </a:buClr>
              <a:buChar char="•"/>
            </a:pPr>
            <a:r>
              <a:rPr lang="en-US" sz="2200" b="1" i="0" u="none" strike="noStrike">
                <a:solidFill>
                  <a:srgbClr val="142850"/>
                </a:solidFill>
                <a:latin typeface="Open Sans"/>
                <a:ea typeface="Open Sans"/>
                <a:cs typeface="Open Sans"/>
                <a:sym typeface="Open Sans"/>
              </a:rPr>
              <a:t>Threads:</a:t>
            </a:r>
            <a:r>
              <a:rPr lang="en-US" sz="2200" b="0" i="0" u="none" strike="noStrike">
                <a:solidFill>
                  <a:srgbClr val="3C3C3C"/>
                </a:solidFill>
                <a:latin typeface="Open Sans"/>
                <a:ea typeface="Open Sans"/>
                <a:cs typeface="Open Sans"/>
                <a:sym typeface="Open Sans"/>
              </a:rPr>
              <a:t> Large organic gap. Spike then drop. Unsustained.</a:t>
            </a:r>
          </a:p>
          <a:p>
            <a:pPr marL="279400" indent="-279400" algn="l">
              <a:lnSpc>
                <a:spcPct val="125000"/>
              </a:lnSpc>
              <a:buClr>
                <a:srgbClr val="E67832"/>
              </a:buClr>
              <a:buChar char="•"/>
            </a:pPr>
            <a:r>
              <a:rPr lang="en-US" sz="2200" b="1" i="0" u="none" strike="noStrike">
                <a:solidFill>
                  <a:srgbClr val="E67832"/>
                </a:solidFill>
                <a:latin typeface="Open Sans"/>
                <a:ea typeface="Open Sans"/>
                <a:cs typeface="Open Sans"/>
                <a:sym typeface="Open Sans"/>
              </a:rPr>
              <a:t>Takeaway:</a:t>
            </a:r>
            <a:r>
              <a:rPr lang="en-US" sz="2200" b="0" i="0" u="none" strike="noStrike">
                <a:solidFill>
                  <a:srgbClr val="3C3C3C"/>
                </a:solidFill>
                <a:latin typeface="Open Sans"/>
                <a:ea typeface="Open Sans"/>
                <a:cs typeface="Open Sans"/>
                <a:sym typeface="Open Sans"/>
              </a:rPr>
              <a:t> Organic share and engagement predict sustainability.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Sustainable vs Bubble Drivers</a:t>
            </a:r>
            <a:endParaRPr lang="en-US" sz="1100"/>
          </a:p>
        </p:txBody>
      </p:sp>
      <p:sp>
        <p:nvSpPr>
          <p:cNvPr id="3" name="AutoShape 3"/>
          <p:cNvSpPr/>
          <p:nvPr/>
        </p:nvSpPr>
        <p:spPr>
          <a:xfrm>
            <a:off x="762000" y="1651000"/>
            <a:ext cx="10668000" cy="508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800" b="0" i="0" u="none" strike="noStrike">
                <a:solidFill>
                  <a:srgbClr val="3C3C3C"/>
                </a:solidFill>
                <a:latin typeface="Open Sans"/>
                <a:ea typeface="Open Sans"/>
                <a:cs typeface="Open Sans"/>
                <a:sym typeface="Open Sans"/>
              </a:rPr>
              <a:t>Three core mechanisms distinguish healthy growth from hype:</a:t>
            </a:r>
            <a:endParaRPr lang="en-US" sz="1100"/>
          </a:p>
        </p:txBody>
      </p:sp>
      <p:cxnSp>
        <p:nvCxnSpPr>
          <p:cNvPr id="4" name="Connector 4"/>
          <p:cNvCxnSpPr/>
          <p:nvPr/>
        </p:nvCxnSpPr>
        <p:spPr>
          <a:xfrm rot="-4092">
            <a:off x="760734" y="3041650"/>
            <a:ext cx="10668008" cy="12700"/>
          </a:xfrm>
          <a:prstGeom prst="straightConnector1">
            <a:avLst/>
          </a:prstGeom>
          <a:solidFill>
            <a:srgbClr val="DEE0E3">
              <a:alpha val="100000"/>
            </a:srgbClr>
          </a:solidFill>
          <a:ln w="12700" cap="flat" cmpd="sng">
            <a:solidFill>
              <a:srgbClr val="C8C8C8">
                <a:alpha val="100000"/>
              </a:srgbClr>
            </a:solidFill>
            <a:prstDash val="dash"/>
            <a:miter lim="8000000"/>
            <a:headEnd type="none" w="med" len="med"/>
            <a:tailEnd type="none" w="med" len="med"/>
          </a:ln>
        </p:spPr>
      </p:cxnSp>
      <p:cxnSp>
        <p:nvCxnSpPr>
          <p:cNvPr id="5" name="Connector 5"/>
          <p:cNvCxnSpPr/>
          <p:nvPr/>
        </p:nvCxnSpPr>
        <p:spPr>
          <a:xfrm rot="-4092">
            <a:off x="760734" y="4184650"/>
            <a:ext cx="10668008" cy="12700"/>
          </a:xfrm>
          <a:prstGeom prst="straightConnector1">
            <a:avLst/>
          </a:prstGeom>
          <a:solidFill>
            <a:srgbClr val="DEE0E3">
              <a:alpha val="100000"/>
            </a:srgbClr>
          </a:solidFill>
          <a:ln w="12700" cap="flat" cmpd="sng">
            <a:solidFill>
              <a:srgbClr val="C8C8C8">
                <a:alpha val="100000"/>
              </a:srgbClr>
            </a:solidFill>
            <a:prstDash val="dash"/>
            <a:miter lim="8000000"/>
            <a:headEnd type="none" w="med" len="med"/>
            <a:tailEnd type="none" w="med" len="med"/>
          </a:ln>
        </p:spPr>
      </p:cxnSp>
      <p:cxnSp>
        <p:nvCxnSpPr>
          <p:cNvPr id="6" name="Connector 6"/>
          <p:cNvCxnSpPr/>
          <p:nvPr/>
        </p:nvCxnSpPr>
        <p:spPr>
          <a:xfrm rot="-4092">
            <a:off x="760734" y="5327650"/>
            <a:ext cx="10668008" cy="12700"/>
          </a:xfrm>
          <a:prstGeom prst="straightConnector1">
            <a:avLst/>
          </a:prstGeom>
          <a:solidFill>
            <a:srgbClr val="DEE0E3">
              <a:alpha val="100000"/>
            </a:srgbClr>
          </a:solidFill>
          <a:ln w="12700" cap="flat" cmpd="sng">
            <a:solidFill>
              <a:srgbClr val="C8C8C8">
                <a:alpha val="100000"/>
              </a:srgbClr>
            </a:solidFill>
            <a:prstDash val="dash"/>
            <a:miter lim="8000000"/>
            <a:headEnd type="none" w="med" len="med"/>
            <a:tailEnd type="none" w="med" len="med"/>
          </a:ln>
        </p:spPr>
      </p:cxnSp>
      <p:sp>
        <p:nvSpPr>
          <p:cNvPr id="7" name="AutoShape 7"/>
          <p:cNvSpPr/>
          <p:nvPr/>
        </p:nvSpPr>
        <p:spPr>
          <a:xfrm>
            <a:off x="762000" y="2540000"/>
            <a:ext cx="2540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Engagement Sync</a:t>
            </a:r>
            <a:endParaRPr lang="en-US" sz="1100"/>
          </a:p>
        </p:txBody>
      </p:sp>
      <p:sp>
        <p:nvSpPr>
          <p:cNvPr id="8" name="AutoShape 8"/>
          <p:cNvSpPr/>
          <p:nvPr/>
        </p:nvSpPr>
        <p:spPr>
          <a:xfrm>
            <a:off x="3556000" y="2413000"/>
            <a:ext cx="7620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0" i="0" u="none" strike="noStrike">
                <a:solidFill>
                  <a:srgbClr val="3C3C3C"/>
                </a:solidFill>
                <a:latin typeface="Open Sans"/>
                <a:ea typeface="Open Sans"/>
                <a:cs typeface="Open Sans"/>
                <a:sym typeface="Open Sans"/>
              </a:rPr>
              <a:t>Correlation between DAU and session duration. </a:t>
            </a:r>
            <a:r>
              <a:rPr lang="en-US" sz="1600" b="1" i="0" u="none" strike="noStrike">
                <a:solidFill>
                  <a:srgbClr val="3C3C3C"/>
                </a:solidFill>
                <a:latin typeface="Open Sans"/>
                <a:ea typeface="Open Sans"/>
                <a:cs typeface="Open Sans"/>
                <a:sym typeface="Open Sans"/>
              </a:rPr>
              <a:t>TikTok (0.92)</a:t>
            </a:r>
            <a:r>
              <a:rPr lang="en-US" sz="1600" b="0" i="0" u="none" strike="noStrike">
                <a:solidFill>
                  <a:srgbClr val="3C3C3C"/>
                </a:solidFill>
                <a:latin typeface="Open Sans"/>
                <a:ea typeface="Open Sans"/>
                <a:cs typeface="Open Sans"/>
                <a:sym typeface="Open Sans"/>
              </a:rPr>
              <a:t> is strong. </a:t>
            </a:r>
            <a:r>
              <a:rPr lang="en-US" sz="1600" b="1" i="0" u="none" strike="noStrike">
                <a:solidFill>
                  <a:srgbClr val="3C3C3C"/>
                </a:solidFill>
                <a:latin typeface="Open Sans"/>
                <a:ea typeface="Open Sans"/>
                <a:cs typeface="Open Sans"/>
                <a:sym typeface="Open Sans"/>
              </a:rPr>
              <a:t>Threads (0.73)</a:t>
            </a:r>
            <a:r>
              <a:rPr lang="en-US" sz="1600" b="0" i="0" u="none" strike="noStrike">
                <a:solidFill>
                  <a:srgbClr val="3C3C3C"/>
                </a:solidFill>
                <a:latin typeface="Open Sans"/>
                <a:ea typeface="Open Sans"/>
                <a:cs typeface="Open Sans"/>
                <a:sym typeface="Open Sans"/>
              </a:rPr>
              <a:t> lags.</a:t>
            </a:r>
            <a:endParaRPr lang="en-US" sz="1100"/>
          </a:p>
        </p:txBody>
      </p:sp>
      <p:sp>
        <p:nvSpPr>
          <p:cNvPr id="9" name="AutoShape 9"/>
          <p:cNvSpPr/>
          <p:nvPr/>
        </p:nvSpPr>
        <p:spPr>
          <a:xfrm>
            <a:off x="762000" y="3683000"/>
            <a:ext cx="2540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Organic Gap</a:t>
            </a:r>
            <a:endParaRPr lang="en-US" sz="1100"/>
          </a:p>
        </p:txBody>
      </p:sp>
      <p:sp>
        <p:nvSpPr>
          <p:cNvPr id="10" name="AutoShape 10"/>
          <p:cNvSpPr/>
          <p:nvPr/>
        </p:nvSpPr>
        <p:spPr>
          <a:xfrm>
            <a:off x="3556000" y="3556000"/>
            <a:ext cx="7620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0" i="0" u="none" strike="noStrike">
                <a:solidFill>
                  <a:srgbClr val="3C3C3C"/>
                </a:solidFill>
                <a:latin typeface="Open Sans"/>
                <a:ea typeface="Open Sans"/>
                <a:cs typeface="Open Sans"/>
                <a:sym typeface="Open Sans"/>
              </a:rPr>
              <a:t>Paid ads vs natural virality. Threads has a </a:t>
            </a:r>
            <a:r>
              <a:rPr lang="en-US" sz="1600" b="1" i="0" u="none" strike="noStrike">
                <a:solidFill>
                  <a:srgbClr val="3C3C3C"/>
                </a:solidFill>
                <a:latin typeface="Open Sans"/>
                <a:ea typeface="Open Sans"/>
                <a:cs typeface="Open Sans"/>
                <a:sym typeface="Open Sans"/>
              </a:rPr>
              <a:t>~60%</a:t>
            </a:r>
            <a:r>
              <a:rPr lang="en-US" sz="1600" b="0" i="0" u="none" strike="noStrike">
                <a:solidFill>
                  <a:srgbClr val="3C3C3C"/>
                </a:solidFill>
                <a:latin typeface="Open Sans"/>
                <a:ea typeface="Open Sans"/>
                <a:cs typeface="Open Sans"/>
                <a:sym typeface="Open Sans"/>
              </a:rPr>
              <a:t> gap. TikTok is minimal (</a:t>
            </a:r>
            <a:r>
              <a:rPr lang="en-US" sz="1600" b="1" i="0" u="none" strike="noStrike">
                <a:solidFill>
                  <a:srgbClr val="3C3C3C"/>
                </a:solidFill>
                <a:latin typeface="Open Sans"/>
                <a:ea typeface="Open Sans"/>
                <a:cs typeface="Open Sans"/>
                <a:sym typeface="Open Sans"/>
              </a:rPr>
              <a:t>&lt;15%</a:t>
            </a:r>
            <a:r>
              <a:rPr lang="en-US" sz="1600" b="0" i="0" u="none" strike="noStrike">
                <a:solidFill>
                  <a:srgbClr val="3C3C3C"/>
                </a:solidFill>
                <a:latin typeface="Open Sans"/>
                <a:ea typeface="Open Sans"/>
                <a:cs typeface="Open Sans"/>
                <a:sym typeface="Open Sans"/>
              </a:rPr>
              <a:t>).</a:t>
            </a:r>
            <a:endParaRPr lang="en-US" sz="1100"/>
          </a:p>
        </p:txBody>
      </p:sp>
      <p:sp>
        <p:nvSpPr>
          <p:cNvPr id="11" name="AutoShape 11"/>
          <p:cNvSpPr/>
          <p:nvPr/>
        </p:nvSpPr>
        <p:spPr>
          <a:xfrm>
            <a:off x="762000" y="4826000"/>
            <a:ext cx="2540000" cy="508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Churn Effect</a:t>
            </a:r>
            <a:endParaRPr lang="en-US" sz="1100"/>
          </a:p>
        </p:txBody>
      </p:sp>
      <p:sp>
        <p:nvSpPr>
          <p:cNvPr id="12" name="AutoShape 12"/>
          <p:cNvSpPr/>
          <p:nvPr/>
        </p:nvSpPr>
        <p:spPr>
          <a:xfrm>
            <a:off x="3556000" y="4699000"/>
            <a:ext cx="7620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600" b="0" i="0" u="none" strike="noStrike">
                <a:solidFill>
                  <a:srgbClr val="3C3C3C"/>
                </a:solidFill>
                <a:latin typeface="Open Sans"/>
                <a:ea typeface="Open Sans"/>
                <a:cs typeface="Open Sans"/>
                <a:sym typeface="Open Sans"/>
              </a:rPr>
              <a:t>Impact of user loss. Threads is a "leaky bucket". TikTok retains users well.</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3600" b="1" i="0" u="none" strike="noStrike">
                <a:solidFill>
                  <a:srgbClr val="142850"/>
                </a:solidFill>
                <a:latin typeface="Montserrat"/>
                <a:ea typeface="Montserrat"/>
                <a:cs typeface="Montserrat"/>
                <a:sym typeface="Montserrat"/>
              </a:rPr>
              <a:t>Problem Solution:Bubble Warning System</a:t>
            </a:r>
            <a:endParaRPr lang="en-US" sz="1100"/>
          </a:p>
        </p:txBody>
      </p:sp>
      <p:sp>
        <p:nvSpPr>
          <p:cNvPr id="3" name="AutoShape 3"/>
          <p:cNvSpPr/>
          <p:nvPr/>
        </p:nvSpPr>
        <p:spPr>
          <a:xfrm>
            <a:off x="762000" y="1778000"/>
            <a:ext cx="3302000" cy="2540000"/>
          </a:xfrm>
          <a:prstGeom prst="roundRect">
            <a:avLst>
              <a:gd name="adj" fmla="val 6000"/>
            </a:avLst>
          </a:prstGeom>
          <a:solidFill>
            <a:srgbClr val="FFFFFF">
              <a:alpha val="100000"/>
            </a:srgbClr>
          </a:solidFill>
          <a:ln w="12700" cap="flat" cmpd="sng">
            <a:solidFill>
              <a:srgbClr val="E67832">
                <a:alpha val="100000"/>
              </a:srgbClr>
            </a:solidFill>
            <a:prstDash val="solid"/>
            <a:round/>
          </a:ln>
        </p:spPr>
        <p:txBody>
          <a:bodyPr vert="horz" wrap="square" lIns="254000" tIns="254000" rIns="254000" bIns="254000" rtlCol="0" anchor="t"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Signal 1: Organic Gap</a:t>
            </a:r>
            <a:endParaRPr lang="en-US" sz="1100"/>
          </a:p>
          <a:p>
            <a:pPr indent="0" algn="l">
              <a:lnSpc>
                <a:spcPct val="125000"/>
              </a:lnSpc>
            </a:pPr>
            <a:r>
              <a:rPr lang="en-US" sz="1400" b="1" i="0" u="none" strike="noStrike">
                <a:solidFill>
                  <a:srgbClr val="3C3C3C"/>
                </a:solidFill>
                <a:latin typeface="Open Sans"/>
                <a:ea typeface="Open Sans"/>
                <a:cs typeface="Open Sans"/>
                <a:sym typeface="Open Sans"/>
              </a:rPr>
              <a:t>Metric:</a:t>
            </a:r>
            <a:r>
              <a:rPr lang="en-US" sz="1400" b="0" i="0" u="none" strike="noStrike">
                <a:solidFill>
                  <a:srgbClr val="3C3C3C"/>
                </a:solidFill>
                <a:latin typeface="Open Sans"/>
                <a:ea typeface="Open Sans"/>
                <a:cs typeface="Open Sans"/>
                <a:sym typeface="Open Sans"/>
              </a:rPr>
              <a:t> Difference between Total and Organic Growth.</a:t>
            </a:r>
          </a:p>
          <a:p>
            <a:pPr indent="0" algn="l">
              <a:lnSpc>
                <a:spcPct val="125000"/>
              </a:lnSpc>
            </a:pPr>
            <a:r>
              <a:rPr lang="en-US" sz="1400" b="1" i="0" u="none" strike="noStrike">
                <a:solidFill>
                  <a:srgbClr val="3C3C3C"/>
                </a:solidFill>
                <a:latin typeface="Open Sans"/>
                <a:ea typeface="Open Sans"/>
                <a:cs typeface="Open Sans"/>
                <a:sym typeface="Open Sans"/>
              </a:rPr>
              <a:t>Trigger:</a:t>
            </a:r>
            <a:r>
              <a:rPr lang="en-US" sz="1400" b="0" i="0" u="none" strike="noStrike">
                <a:solidFill>
                  <a:srgbClr val="3C3C3C"/>
                </a:solidFill>
                <a:latin typeface="Open Sans"/>
                <a:ea typeface="Open Sans"/>
                <a:cs typeface="Open Sans"/>
                <a:sym typeface="Open Sans"/>
              </a:rPr>
              <a:t> Gap &gt;</a:t>
            </a:r>
            <a:r>
              <a:rPr lang="en-US" sz="1400" b="1" i="0" u="none" strike="noStrike">
                <a:solidFill>
                  <a:srgbClr val="3C3C3C"/>
                </a:solidFill>
                <a:latin typeface="Open Sans"/>
                <a:ea typeface="Open Sans"/>
                <a:cs typeface="Open Sans"/>
                <a:sym typeface="Open Sans"/>
              </a:rPr>
              <a:t>30%</a:t>
            </a:r>
            <a:r>
              <a:rPr lang="en-US" sz="1400" b="0" i="0" u="none" strike="noStrike">
                <a:solidFill>
                  <a:srgbClr val="3C3C3C"/>
                </a:solidFill>
                <a:latin typeface="Open Sans"/>
                <a:ea typeface="Open Sans"/>
                <a:cs typeface="Open Sans"/>
                <a:sym typeface="Open Sans"/>
              </a:rPr>
              <a:t> for 14+ days.</a:t>
            </a:r>
          </a:p>
        </p:txBody>
      </p:sp>
      <p:sp>
        <p:nvSpPr>
          <p:cNvPr id="4" name="AutoShape 4"/>
          <p:cNvSpPr/>
          <p:nvPr/>
        </p:nvSpPr>
        <p:spPr>
          <a:xfrm>
            <a:off x="4445000" y="1778000"/>
            <a:ext cx="3302000" cy="2540000"/>
          </a:xfrm>
          <a:prstGeom prst="roundRect">
            <a:avLst>
              <a:gd name="adj" fmla="val 6000"/>
            </a:avLst>
          </a:prstGeom>
          <a:solidFill>
            <a:srgbClr val="FFFFFF">
              <a:alpha val="100000"/>
            </a:srgbClr>
          </a:solidFill>
          <a:ln w="12700" cap="flat" cmpd="sng">
            <a:solidFill>
              <a:srgbClr val="E67832">
                <a:alpha val="100000"/>
              </a:srgbClr>
            </a:solidFill>
            <a:prstDash val="solid"/>
            <a:round/>
          </a:ln>
        </p:spPr>
        <p:txBody>
          <a:bodyPr vert="horz" wrap="square" lIns="254000" tIns="254000" rIns="254000" bIns="254000" rtlCol="0" anchor="t"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Signal 2: Growth Sync</a:t>
            </a:r>
            <a:endParaRPr lang="en-US" sz="1100"/>
          </a:p>
          <a:p>
            <a:pPr indent="0" algn="l">
              <a:lnSpc>
                <a:spcPct val="125000"/>
              </a:lnSpc>
            </a:pPr>
            <a:r>
              <a:rPr lang="en-US" sz="1400" b="1" i="0" u="none" strike="noStrike">
                <a:solidFill>
                  <a:srgbClr val="3C3C3C"/>
                </a:solidFill>
                <a:latin typeface="Open Sans"/>
                <a:ea typeface="Open Sans"/>
                <a:cs typeface="Open Sans"/>
                <a:sym typeface="Open Sans"/>
              </a:rPr>
              <a:t>Metric:</a:t>
            </a:r>
            <a:r>
              <a:rPr lang="en-US" sz="1400" b="0" i="0" u="none" strike="noStrike">
                <a:solidFill>
                  <a:srgbClr val="3C3C3C"/>
                </a:solidFill>
                <a:latin typeface="Open Sans"/>
                <a:ea typeface="Open Sans"/>
                <a:cs typeface="Open Sans"/>
                <a:sym typeface="Open Sans"/>
              </a:rPr>
              <a:t> DAU vs Session Duration correlation.</a:t>
            </a:r>
          </a:p>
          <a:p>
            <a:pPr indent="0" algn="l">
              <a:lnSpc>
                <a:spcPct val="125000"/>
              </a:lnSpc>
            </a:pPr>
            <a:r>
              <a:rPr lang="en-US" sz="1400" b="1" i="0" u="none" strike="noStrike">
                <a:solidFill>
                  <a:srgbClr val="3C3C3C"/>
                </a:solidFill>
                <a:latin typeface="Open Sans"/>
                <a:ea typeface="Open Sans"/>
                <a:cs typeface="Open Sans"/>
                <a:sym typeface="Open Sans"/>
              </a:rPr>
              <a:t>Trigger:</a:t>
            </a:r>
            <a:r>
              <a:rPr lang="en-US" sz="1400" b="0" i="0" u="none" strike="noStrike">
                <a:solidFill>
                  <a:srgbClr val="3C3C3C"/>
                </a:solidFill>
                <a:latin typeface="Open Sans"/>
                <a:ea typeface="Open Sans"/>
                <a:cs typeface="Open Sans"/>
                <a:sym typeface="Open Sans"/>
              </a:rPr>
              <a:t> Correlation &lt;</a:t>
            </a:r>
            <a:r>
              <a:rPr lang="en-US" sz="1400" b="1" i="0" u="none" strike="noStrike">
                <a:solidFill>
                  <a:srgbClr val="3C3C3C"/>
                </a:solidFill>
                <a:latin typeface="Open Sans"/>
                <a:ea typeface="Open Sans"/>
                <a:cs typeface="Open Sans"/>
                <a:sym typeface="Open Sans"/>
              </a:rPr>
              <a:t>0.8</a:t>
            </a:r>
            <a:r>
              <a:rPr lang="en-US" sz="1400" b="0" i="0" u="none" strike="noStrike">
                <a:solidFill>
                  <a:srgbClr val="3C3C3C"/>
                </a:solidFill>
                <a:latin typeface="Open Sans"/>
                <a:ea typeface="Open Sans"/>
                <a:cs typeface="Open Sans"/>
                <a:sym typeface="Open Sans"/>
              </a:rPr>
              <a:t> for 3+ weeks.</a:t>
            </a:r>
          </a:p>
        </p:txBody>
      </p:sp>
      <p:sp>
        <p:nvSpPr>
          <p:cNvPr id="5" name="AutoShape 5"/>
          <p:cNvSpPr/>
          <p:nvPr/>
        </p:nvSpPr>
        <p:spPr>
          <a:xfrm>
            <a:off x="8128000" y="1778000"/>
            <a:ext cx="3302000" cy="2540000"/>
          </a:xfrm>
          <a:prstGeom prst="roundRect">
            <a:avLst>
              <a:gd name="adj" fmla="val 6000"/>
            </a:avLst>
          </a:prstGeom>
          <a:solidFill>
            <a:srgbClr val="FFFFFF">
              <a:alpha val="100000"/>
            </a:srgbClr>
          </a:solidFill>
          <a:ln w="12700" cap="flat" cmpd="sng">
            <a:solidFill>
              <a:srgbClr val="E67832">
                <a:alpha val="100000"/>
              </a:srgbClr>
            </a:solidFill>
            <a:prstDash val="solid"/>
            <a:round/>
          </a:ln>
        </p:spPr>
        <p:txBody>
          <a:bodyPr vert="horz" wrap="square" lIns="254000" tIns="254000" rIns="254000" bIns="254000" rtlCol="0" anchor="t"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Signal 3: Churn Accel</a:t>
            </a:r>
            <a:endParaRPr lang="en-US" sz="1100"/>
          </a:p>
          <a:p>
            <a:pPr indent="0" algn="l">
              <a:lnSpc>
                <a:spcPct val="125000"/>
              </a:lnSpc>
            </a:pPr>
            <a:r>
              <a:rPr lang="en-US" sz="1400" b="1" i="0" u="none" strike="noStrike">
                <a:solidFill>
                  <a:srgbClr val="3C3C3C"/>
                </a:solidFill>
                <a:latin typeface="Open Sans"/>
                <a:ea typeface="Open Sans"/>
                <a:cs typeface="Open Sans"/>
                <a:sym typeface="Open Sans"/>
              </a:rPr>
              <a:t>Metric:</a:t>
            </a:r>
            <a:r>
              <a:rPr lang="en-US" sz="1400" b="0" i="0" u="none" strike="noStrike">
                <a:solidFill>
                  <a:srgbClr val="3C3C3C"/>
                </a:solidFill>
                <a:latin typeface="Open Sans"/>
                <a:ea typeface="Open Sans"/>
                <a:cs typeface="Open Sans"/>
                <a:sym typeface="Open Sans"/>
              </a:rPr>
              <a:t> WoW Churn Rate Change.</a:t>
            </a:r>
          </a:p>
          <a:p>
            <a:pPr indent="0" algn="l">
              <a:lnSpc>
                <a:spcPct val="125000"/>
              </a:lnSpc>
            </a:pPr>
            <a:r>
              <a:rPr lang="en-US" sz="1400" b="1" i="0" u="none" strike="noStrike">
                <a:solidFill>
                  <a:srgbClr val="3C3C3C"/>
                </a:solidFill>
                <a:latin typeface="Open Sans"/>
                <a:ea typeface="Open Sans"/>
                <a:cs typeface="Open Sans"/>
                <a:sym typeface="Open Sans"/>
              </a:rPr>
              <a:t>Trigger:</a:t>
            </a:r>
            <a:r>
              <a:rPr lang="en-US" sz="1400" b="0" i="0" u="none" strike="noStrike">
                <a:solidFill>
                  <a:srgbClr val="3C3C3C"/>
                </a:solidFill>
                <a:latin typeface="Open Sans"/>
                <a:ea typeface="Open Sans"/>
                <a:cs typeface="Open Sans"/>
                <a:sym typeface="Open Sans"/>
              </a:rPr>
              <a:t> Churn increases </a:t>
            </a:r>
            <a:r>
              <a:rPr lang="en-US" sz="1400" b="1" i="0" u="none" strike="noStrike">
                <a:solidFill>
                  <a:srgbClr val="3C3C3C"/>
                </a:solidFill>
                <a:latin typeface="Open Sans"/>
                <a:ea typeface="Open Sans"/>
                <a:cs typeface="Open Sans"/>
                <a:sym typeface="Open Sans"/>
              </a:rPr>
              <a:t>+5%</a:t>
            </a:r>
            <a:r>
              <a:rPr lang="en-US" sz="1400" b="0" i="0" u="none" strike="noStrike">
                <a:solidFill>
                  <a:srgbClr val="3C3C3C"/>
                </a:solidFill>
                <a:latin typeface="Open Sans"/>
                <a:ea typeface="Open Sans"/>
                <a:cs typeface="Open Sans"/>
                <a:sym typeface="Open Sans"/>
              </a:rPr>
              <a:t> WoW for 2+ weeks.</a:t>
            </a:r>
          </a:p>
        </p:txBody>
      </p:sp>
      <p:sp>
        <p:nvSpPr>
          <p:cNvPr id="6" name="AutoShape 6"/>
          <p:cNvSpPr/>
          <p:nvPr/>
        </p:nvSpPr>
        <p:spPr>
          <a:xfrm>
            <a:off x="762000" y="4699000"/>
            <a:ext cx="10668000" cy="1270000"/>
          </a:xfrm>
          <a:prstGeom prst="roundRect">
            <a:avLst>
              <a:gd name="adj" fmla="val 8000"/>
            </a:avLst>
          </a:prstGeom>
          <a:solidFill>
            <a:srgbClr val="E6EBF0">
              <a:alpha val="100000"/>
            </a:srgbClr>
          </a:solidFill>
          <a:ln w="25400" cap="flat" cmpd="sng">
            <a:noFill/>
            <a:prstDash val="solid"/>
            <a:round/>
          </a:ln>
        </p:spPr>
        <p:txBody>
          <a:bodyPr vert="horz" wrap="square" lIns="508000" tIns="0" rIns="508000" bIns="0" rtlCol="0" anchor="ctr" anchorCtr="0">
            <a:normAutofit/>
          </a:bodyPr>
          <a:lstStyle/>
          <a:p>
            <a:pPr indent="0" algn="ctr">
              <a:lnSpc>
                <a:spcPct val="125000"/>
              </a:lnSpc>
              <a:defRPr/>
            </a:pPr>
            <a:r>
              <a:rPr lang="en-US" sz="1800" b="1" i="0" u="none" strike="noStrike">
                <a:solidFill>
                  <a:srgbClr val="142850"/>
                </a:solidFill>
                <a:latin typeface="Montserrat"/>
                <a:ea typeface="Montserrat"/>
                <a:cs typeface="Montserrat"/>
                <a:sym typeface="Montserrat"/>
              </a:rPr>
              <a:t>Alert Levels</a:t>
            </a:r>
            <a:endParaRPr lang="en-US" sz="1100"/>
          </a:p>
          <a:p>
            <a:pPr indent="0" algn="ctr">
              <a:lnSpc>
                <a:spcPct val="125000"/>
              </a:lnSpc>
            </a:pPr>
            <a:r>
              <a:rPr lang="en-US" sz="1600" b="0" i="0" u="none" strike="noStrike">
                <a:solidFill>
                  <a:srgbClr val="3C3C3C"/>
                </a:solidFill>
                <a:latin typeface="Open Sans"/>
                <a:ea typeface="Open Sans"/>
                <a:cs typeface="Open Sans"/>
                <a:sym typeface="Open Sans"/>
              </a:rPr>
              <a:t>1 Signal = </a:t>
            </a:r>
            <a:r>
              <a:rPr lang="en-US" sz="1600" b="1" i="0" u="none" strike="noStrike">
                <a:solidFill>
                  <a:srgbClr val="3C3C3C"/>
                </a:solidFill>
                <a:latin typeface="Open Sans"/>
                <a:ea typeface="Open Sans"/>
                <a:cs typeface="Open Sans"/>
                <a:sym typeface="Open Sans"/>
              </a:rPr>
              <a:t>Caution</a:t>
            </a:r>
            <a:r>
              <a:rPr lang="en-US" sz="1600" b="0" i="0" u="none" strike="noStrike">
                <a:solidFill>
                  <a:srgbClr val="3C3C3C"/>
                </a:solidFill>
                <a:latin typeface="Open Sans"/>
                <a:ea typeface="Open Sans"/>
                <a:cs typeface="Open Sans"/>
                <a:sym typeface="Open Sans"/>
              </a:rPr>
              <a:t>  | 2 Signals = </a:t>
            </a:r>
            <a:r>
              <a:rPr lang="en-US" sz="1600" b="1" i="0" u="none" strike="noStrike">
                <a:solidFill>
                  <a:srgbClr val="3C3C3C"/>
                </a:solidFill>
                <a:latin typeface="Open Sans"/>
                <a:ea typeface="Open Sans"/>
                <a:cs typeface="Open Sans"/>
                <a:sym typeface="Open Sans"/>
              </a:rPr>
              <a:t>Warning</a:t>
            </a:r>
            <a:r>
              <a:rPr lang="en-US" sz="1600" b="0" i="0" u="none" strike="noStrike">
                <a:solidFill>
                  <a:srgbClr val="3C3C3C"/>
                </a:solidFill>
                <a:latin typeface="Open Sans"/>
                <a:ea typeface="Open Sans"/>
                <a:cs typeface="Open Sans"/>
                <a:sym typeface="Open Sans"/>
              </a:rPr>
              <a:t>  | 3 Signals = </a:t>
            </a:r>
            <a:r>
              <a:rPr lang="en-US" sz="1600" b="1" i="0" u="none" strike="noStrike">
                <a:solidFill>
                  <a:srgbClr val="C83232"/>
                </a:solidFill>
                <a:latin typeface="Open Sans"/>
                <a:ea typeface="Open Sans"/>
                <a:cs typeface="Open Sans"/>
                <a:sym typeface="Open Sans"/>
              </a:rPr>
              <a:t>CRITICAL BUBBLE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Limitations</a:t>
            </a:r>
            <a:endParaRPr lang="en-US" sz="1100"/>
          </a:p>
        </p:txBody>
      </p:sp>
      <p:sp>
        <p:nvSpPr>
          <p:cNvPr id="3" name="AutoShape 3"/>
          <p:cNvSpPr/>
          <p:nvPr/>
        </p:nvSpPr>
        <p:spPr>
          <a:xfrm>
            <a:off x="762000" y="1778000"/>
            <a:ext cx="10668000" cy="4318000"/>
          </a:xfrm>
          <a:prstGeom prst="roundRect">
            <a:avLst>
              <a:gd name="adj" fmla="val 3529"/>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79400" indent="-279400" algn="l">
              <a:lnSpc>
                <a:spcPct val="125000"/>
              </a:lnSpc>
              <a:buClr>
                <a:srgbClr val="3C3C3C"/>
              </a:buClr>
              <a:buChar char="•"/>
              <a:defRPr/>
            </a:pPr>
            <a:r>
              <a:rPr lang="en-US" sz="2200" b="0" i="0" u="none" strike="noStrike">
                <a:solidFill>
                  <a:srgbClr val="3C3C3C"/>
                </a:solidFill>
                <a:latin typeface="Open Sans"/>
                <a:ea typeface="Open Sans"/>
                <a:cs typeface="Open Sans"/>
                <a:sym typeface="Open Sans"/>
              </a:rPr>
              <a:t>Simulated datasets based on industry trends</a:t>
            </a:r>
            <a:endParaRPr lang="en-US" sz="1100"/>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Focuses on numbers, not regulations</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Matches public patterns; needs validation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1E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142850"/>
                </a:solidFill>
                <a:latin typeface="Montserrat"/>
                <a:ea typeface="Montserrat"/>
                <a:cs typeface="Montserrat"/>
                <a:sym typeface="Montserrat"/>
              </a:rPr>
              <a:t>Future Research</a:t>
            </a:r>
            <a:endParaRPr lang="en-US" sz="1100"/>
          </a:p>
        </p:txBody>
      </p:sp>
      <p:sp>
        <p:nvSpPr>
          <p:cNvPr id="3" name="AutoShape 3"/>
          <p:cNvSpPr/>
          <p:nvPr/>
        </p:nvSpPr>
        <p:spPr>
          <a:xfrm>
            <a:off x="762000" y="1778000"/>
            <a:ext cx="10668000" cy="4318000"/>
          </a:xfrm>
          <a:prstGeom prst="roundRect">
            <a:avLst>
              <a:gd name="adj" fmla="val 3529"/>
            </a:avLst>
          </a:prstGeom>
          <a:solidFill>
            <a:srgbClr val="FFFFFF">
              <a:alpha val="100000"/>
            </a:srgbClr>
          </a:solidFill>
          <a:ln w="12700" cap="flat" cmpd="sng">
            <a:solidFill>
              <a:srgbClr val="C8C8C8">
                <a:alpha val="100000"/>
              </a:srgbClr>
            </a:solidFill>
            <a:prstDash val="solid"/>
            <a:round/>
          </a:ln>
          <a:effectLst>
            <a:outerShdw blurRad="127000" dist="50800" dir="2700000" algn="tl" rotWithShape="0">
              <a:srgbClr val="000000">
                <a:alpha val="5000"/>
              </a:srgbClr>
            </a:outerShdw>
          </a:effectLst>
        </p:spPr>
        <p:txBody>
          <a:bodyPr vert="horz" wrap="square" lIns="381000" tIns="381000" rIns="381000" bIns="381000" rtlCol="0" anchor="t" anchorCtr="0">
            <a:normAutofit/>
          </a:bodyPr>
          <a:lstStyle/>
          <a:p>
            <a:pPr marL="279400" indent="-279400" algn="l">
              <a:lnSpc>
                <a:spcPct val="125000"/>
              </a:lnSpc>
              <a:buClr>
                <a:srgbClr val="3C3C3C"/>
              </a:buClr>
              <a:buChar char="•"/>
              <a:defRPr/>
            </a:pPr>
            <a:r>
              <a:rPr lang="en-US" sz="2200" b="0" i="0" u="none" strike="noStrike">
                <a:solidFill>
                  <a:srgbClr val="3C3C3C"/>
                </a:solidFill>
                <a:latin typeface="Open Sans"/>
                <a:ea typeface="Open Sans"/>
                <a:cs typeface="Open Sans"/>
                <a:sym typeface="Open Sans"/>
              </a:rPr>
              <a:t>Test Warning System on more platforms</a:t>
            </a:r>
            <a:endParaRPr lang="en-US" sz="1100"/>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Add sentiment analysis from reviews</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Build ML for predictive alerts</a:t>
            </a:r>
          </a:p>
          <a:p>
            <a:pPr marL="279400" indent="-279400" algn="l">
              <a:lnSpc>
                <a:spcPct val="125000"/>
              </a:lnSpc>
              <a:buClr>
                <a:srgbClr val="3C3C3C"/>
              </a:buClr>
              <a:buChar char="•"/>
            </a:pPr>
            <a:r>
              <a:rPr lang="en-US" sz="2200" b="0" i="0" u="none" strike="noStrike">
                <a:solidFill>
                  <a:srgbClr val="3C3C3C"/>
                </a:solidFill>
                <a:latin typeface="Open Sans"/>
                <a:ea typeface="Open Sans"/>
                <a:cs typeface="Open Sans"/>
                <a:sym typeface="Open Sans"/>
              </a:rPr>
              <a:t>Test outside social media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8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016000"/>
            <a:ext cx="9652000" cy="762000"/>
          </a:xfrm>
          <a:prstGeom prst="rect">
            <a:avLst/>
          </a:prstGeom>
          <a:noFill/>
          <a:ln w="12700" cap="flat" cmpd="sng">
            <a:noFill/>
            <a:prstDash val="solid"/>
            <a:round/>
          </a:ln>
        </p:spPr>
        <p:txBody>
          <a:bodyPr vert="horz" wrap="square" lIns="0" tIns="0" rIns="0" bIns="0" rtlCol="0" anchor="ctr" anchorCtr="0">
            <a:normAutofit/>
          </a:bodyPr>
          <a:lstStyle/>
          <a:p>
            <a:pPr indent="0" algn="ctr">
              <a:lnSpc>
                <a:spcPct val="108333"/>
              </a:lnSpc>
              <a:defRPr/>
            </a:pPr>
            <a:r>
              <a:rPr lang="en-US" sz="4200" b="1" i="0" u="none" strike="noStrike">
                <a:solidFill>
                  <a:srgbClr val="FFFFFF"/>
                </a:solidFill>
                <a:latin typeface="Montserrat"/>
                <a:ea typeface="Montserrat"/>
                <a:cs typeface="Montserrat"/>
                <a:sym typeface="Montserrat"/>
              </a:rPr>
              <a:t>Conclusion &amp; Next Steps</a:t>
            </a:r>
            <a:endParaRPr lang="en-US" sz="1100"/>
          </a:p>
        </p:txBody>
      </p:sp>
      <p:cxnSp>
        <p:nvCxnSpPr>
          <p:cNvPr id="3" name="Connector 3"/>
          <p:cNvCxnSpPr/>
          <p:nvPr/>
        </p:nvCxnSpPr>
        <p:spPr>
          <a:xfrm rot="-34374">
            <a:off x="5459762" y="1898650"/>
            <a:ext cx="1270063" cy="12700"/>
          </a:xfrm>
          <a:prstGeom prst="straightConnector1">
            <a:avLst/>
          </a:prstGeom>
          <a:solidFill>
            <a:srgbClr val="DEE0E3">
              <a:alpha val="100000"/>
            </a:srgbClr>
          </a:solidFill>
          <a:ln w="38100" cap="flat" cmpd="sng">
            <a:solidFill>
              <a:srgbClr val="E67832">
                <a:alpha val="100000"/>
              </a:srgbClr>
            </a:solidFill>
            <a:prstDash val="solid"/>
            <a:miter lim="8000000"/>
            <a:headEnd type="none" w="lg" len="lg"/>
            <a:tailEnd type="none" w="lg" len="lg"/>
          </a:ln>
        </p:spPr>
      </p:cxnSp>
      <p:sp>
        <p:nvSpPr>
          <p:cNvPr id="4" name="AutoShape 4"/>
          <p:cNvSpPr/>
          <p:nvPr/>
        </p:nvSpPr>
        <p:spPr>
          <a:xfrm>
            <a:off x="1270000" y="2413000"/>
            <a:ext cx="9652000" cy="1016000"/>
          </a:xfrm>
          <a:prstGeom prst="roundRect">
            <a:avLst>
              <a:gd name="adj" fmla="val 15000"/>
            </a:avLst>
          </a:prstGeom>
          <a:solidFill>
            <a:srgbClr val="FFFFFF">
              <a:alpha val="10000"/>
            </a:srgbClr>
          </a:solidFill>
          <a:ln w="25400" cap="flat" cmpd="sng">
            <a:noFill/>
            <a:prstDash val="solid"/>
            <a:round/>
          </a:ln>
        </p:spPr>
        <p:txBody>
          <a:bodyPr vert="horz" wrap="square" lIns="381000" tIns="0" rIns="38100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Verdict: </a:t>
            </a:r>
            <a:r>
              <a:rPr lang="en-US" sz="1800" b="0" i="0" u="none" strike="noStrike">
                <a:solidFill>
                  <a:srgbClr val="FFFFFF"/>
                </a:solidFill>
                <a:latin typeface="Open Sans"/>
                <a:ea typeface="Open Sans"/>
                <a:cs typeface="Open Sans"/>
                <a:sym typeface="Open Sans"/>
              </a:rPr>
              <a:t> TikTok is sustainable. Threads was a hype bubble with weak retention.</a:t>
            </a:r>
            <a:endParaRPr lang="en-US" sz="1100"/>
          </a:p>
        </p:txBody>
      </p:sp>
      <p:sp>
        <p:nvSpPr>
          <p:cNvPr id="5" name="AutoShape 5"/>
          <p:cNvSpPr/>
          <p:nvPr/>
        </p:nvSpPr>
        <p:spPr>
          <a:xfrm>
            <a:off x="1270000" y="3683000"/>
            <a:ext cx="9652000" cy="1016000"/>
          </a:xfrm>
          <a:prstGeom prst="roundRect">
            <a:avLst>
              <a:gd name="adj" fmla="val 15000"/>
            </a:avLst>
          </a:prstGeom>
          <a:solidFill>
            <a:srgbClr val="FFFFFF">
              <a:alpha val="10000"/>
            </a:srgbClr>
          </a:solidFill>
          <a:ln w="25400" cap="flat" cmpd="sng">
            <a:noFill/>
            <a:prstDash val="solid"/>
            <a:round/>
          </a:ln>
        </p:spPr>
        <p:txBody>
          <a:bodyPr vert="horz" wrap="square" lIns="381000" tIns="0" rIns="38100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Application: </a:t>
            </a:r>
            <a:r>
              <a:rPr lang="en-US" sz="1800" b="0" i="0" u="none" strike="noStrike">
                <a:solidFill>
                  <a:srgbClr val="FFFFFF"/>
                </a:solidFill>
                <a:latin typeface="Open Sans"/>
                <a:ea typeface="Open Sans"/>
                <a:cs typeface="Open Sans"/>
                <a:sym typeface="Open Sans"/>
              </a:rPr>
              <a:t> Use 3-Signal System to detect bubbles early.</a:t>
            </a:r>
            <a:endParaRPr lang="en-US" sz="1100"/>
          </a:p>
        </p:txBody>
      </p:sp>
      <p:sp>
        <p:nvSpPr>
          <p:cNvPr id="6" name="AutoShape 6"/>
          <p:cNvSpPr/>
          <p:nvPr/>
        </p:nvSpPr>
        <p:spPr>
          <a:xfrm>
            <a:off x="1270000" y="4953000"/>
            <a:ext cx="9652000" cy="1016000"/>
          </a:xfrm>
          <a:prstGeom prst="roundRect">
            <a:avLst>
              <a:gd name="adj" fmla="val 15000"/>
            </a:avLst>
          </a:prstGeom>
          <a:solidFill>
            <a:srgbClr val="FFFFFF">
              <a:alpha val="10000"/>
            </a:srgbClr>
          </a:solidFill>
          <a:ln w="25400" cap="flat" cmpd="sng">
            <a:noFill/>
            <a:prstDash val="solid"/>
            <a:round/>
          </a:ln>
        </p:spPr>
        <p:txBody>
          <a:bodyPr vert="horz" wrap="square" lIns="381000" tIns="0" rIns="381000" bIns="0" rtlCol="0" anchor="ctr" anchorCtr="0">
            <a:normAutofit/>
          </a:bodyPr>
          <a:lstStyle/>
          <a:p>
            <a:pPr indent="0" algn="l">
              <a:lnSpc>
                <a:spcPct val="125000"/>
              </a:lnSpc>
              <a:defRPr/>
            </a:pPr>
            <a:r>
              <a:rPr lang="en-US" sz="1800" b="1" i="0" u="none" strike="noStrike">
                <a:solidFill>
                  <a:srgbClr val="E67832"/>
                </a:solidFill>
                <a:latin typeface="Montserrat"/>
                <a:ea typeface="Montserrat"/>
                <a:cs typeface="Montserrat"/>
                <a:sym typeface="Montserrat"/>
              </a:rPr>
              <a:t>Next Steps: </a:t>
            </a:r>
            <a:r>
              <a:rPr lang="en-US" sz="1800" b="0" i="0" u="none" strike="noStrike">
                <a:solidFill>
                  <a:srgbClr val="FFFFFF"/>
                </a:solidFill>
                <a:latin typeface="Open Sans"/>
                <a:ea typeface="Open Sans"/>
                <a:cs typeface="Open Sans"/>
                <a:sym typeface="Open Sans"/>
              </a:rPr>
              <a:t> Validate framework, add sentiment, and explore ML.</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1393</Words>
  <Application>Microsoft Office PowerPoint</Application>
  <PresentationFormat>Widescreen</PresentationFormat>
  <Paragraphs>193</Paragraphs>
  <Slides>19</Slides>
  <Notes>19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Montserrat</vt:lpstr>
      <vt:lpstr>Noto Sans SC</vt:lpstr>
      <vt:lpstr>Open Sans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ThinkPad</dc:creator>
  <cp:lastModifiedBy>22422447 - Gheid Abdulkarim Ahmed Abomaghara</cp:lastModifiedBy>
  <cp:revision>2</cp:revision>
  <dcterms:modified xsi:type="dcterms:W3CDTF">2026-01-15T14:02:24Z</dcterms:modified>
</cp:coreProperties>
</file>